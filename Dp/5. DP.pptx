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5" r:id="rId6"/>
    <p:sldId id="267" r:id="rId7"/>
    <p:sldId id="276" r:id="rId8"/>
    <p:sldId id="277" r:id="rId9"/>
    <p:sldId id="268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32552-3B5A-D3D8-AD8F-F278CE88D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524E0A-E192-DDBB-1AD8-B08C219D2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CD6D8-35E5-7173-DBF7-ED05F1EE6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106E-5B75-4D48-87D4-CECD968052F6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1BFAC-0B84-8AF9-2A82-9D67DD72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CAAF1-3433-A064-0254-619ED5949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AFEC-D827-49FE-BF2B-874531D7F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42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7FA9D-7F5E-9A9F-C2DA-51F6BCC11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AB7AA-AAB8-032A-BF30-543D013B2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F6F10-D0BA-4282-039D-311628E49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106E-5B75-4D48-87D4-CECD968052F6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E66E2-698D-3F2A-26D2-871DA6601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C2341-31CA-1655-C4D9-FCC719CB6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AFEC-D827-49FE-BF2B-874531D7F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67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8BEA9-9CF9-4183-E0AB-650D317C6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13FCE-6EDB-8A3A-0D65-0B62F6AC2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F7BC8-20CE-B72A-480F-FE99DE2E8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106E-5B75-4D48-87D4-CECD968052F6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1F751-0794-8C83-D481-78BE3F758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C0B68-C252-0498-0E38-8500CAFA5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AFEC-D827-49FE-BF2B-874531D7F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3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34C10-52DE-FE3D-F717-8E48F3574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F3512-1AEE-6B13-681E-A681BF00A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386CD-C5F3-3037-7F09-24B5917BF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F70D0-DEEA-1987-64E2-B4A06F3F5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106E-5B75-4D48-87D4-CECD968052F6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D2433-BD8A-01D0-6ABC-75995681A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993DC-50B2-7E89-2B99-9D2F52D5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AFEC-D827-49FE-BF2B-874531D7F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313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7677B-A8BD-3D7B-CC7E-A71EA026F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297AA-4F12-3DEE-BD7A-A10391F83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F0ABA6-8084-67AC-D6EF-AE1B6E008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2C30A-FF3B-C364-03E2-A6FDF10B9A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E5B17F-7A25-2AFC-9E9E-B405D94039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7032BF-670B-FD34-EE9A-DF2DF576C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106E-5B75-4D48-87D4-CECD968052F6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2A163B-9CE1-2C12-CC26-23C07C335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D1DD48-53BF-2832-1110-67F3EB0CE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AFEC-D827-49FE-BF2B-874531D7F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413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F1642-B6F6-07A5-F847-06C9DF53B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EBDCC-7B10-133C-EE4F-B01804BB5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106E-5B75-4D48-87D4-CECD968052F6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922213-BC47-54F1-5BE3-4DED1AFA1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7FFFDB-A2D6-F1E8-BA7A-EE67CACF4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AFEC-D827-49FE-BF2B-874531D7F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123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7ACB64-54AB-8653-24DC-BA0A10C71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106E-5B75-4D48-87D4-CECD968052F6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3CDEFD-0EC9-6E14-086E-24EF740E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C07BC-CA0C-A667-AD08-049ACF85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AFEC-D827-49FE-BF2B-874531D7F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33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B49E4-AAC7-AE03-D1B3-EB0018E8A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F8521-6548-84CF-A4AE-F1BEA5147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ECAC3-16EE-607E-29B3-A9AF0E3AC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C7B9D-3D2E-0DBA-DD1B-37F51579E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106E-5B75-4D48-87D4-CECD968052F6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1A392-4E78-3E8E-B093-B49FD90B6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77D3C-A8EC-AB59-908B-8DB732605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AFEC-D827-49FE-BF2B-874531D7F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76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00227-1826-15EB-79A9-06332D5B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2F0E38-7E37-1B8B-905A-8155225FBE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8491F-9BAC-56D6-9707-68EBE02C3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C3ACF-5058-F18D-A42E-6CF0D9D3D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106E-5B75-4D48-87D4-CECD968052F6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B83C0-C4FB-89CE-4792-9B5C2757B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5A24E-1B85-702A-EC98-224AFA1B4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AFEC-D827-49FE-BF2B-874531D7F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4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24672-8773-6703-EF41-0096222E7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112A9E-495E-ED9A-E073-F7662CA40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DC18-151E-33FF-6AFC-C36D1D27A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106E-5B75-4D48-87D4-CECD968052F6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68C40-7427-C972-6BE8-D1BD70A0E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A36F0-4C43-AB80-0E27-6849368A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AFEC-D827-49FE-BF2B-874531D7F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60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5B32E3-7293-95A2-2E50-75A5C8AC0F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9E8F75-A98C-C1DC-A7A8-A673F3004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D0DA1-C3D2-7065-24F6-F6E3BF664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106E-5B75-4D48-87D4-CECD968052F6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A80DF-ABC9-CB5D-DDAD-33447C299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A43CD-BD90-35BC-3D29-5586BD313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AFEC-D827-49FE-BF2B-874531D7F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409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7FD8DA-DE81-9421-688F-A6318AA5B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5FD1B-A748-1A6E-F641-5013982E6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A3A94-398C-5117-815B-D51619B1A7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4106E-5B75-4D48-87D4-CECD968052F6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330FB-29C2-D793-4015-64C746FA4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02BAB-9180-A8F6-9CDC-B6E29E060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1AFEC-D827-49FE-BF2B-874531D7F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8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33580-9A4E-F3A1-6AA0-66FE313E68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Dynamic Programming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D8CC1-B9A4-4E6B-ACE9-7E7FD20A5F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Week-7</a:t>
            </a:r>
          </a:p>
          <a:p>
            <a:r>
              <a:rPr lang="en-GB" dirty="0">
                <a:latin typeface="Lucida Sans Typewriter" panose="020B0509030504030204" pitchFamily="49" charset="0"/>
              </a:rPr>
              <a:t>UMAMA RAHMAN</a:t>
            </a:r>
            <a:endParaRPr lang="en-US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5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EF8B3-3D3C-4EAB-1FEB-EF2788621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795" y="2095954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Lucida Sans Typewriter" panose="020B0509030504030204" pitchFamily="49" charset="0"/>
              </a:rPr>
              <a:t>0-1 knapsack</a:t>
            </a:r>
            <a:endParaRPr lang="en-US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792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ucida Sans Typewriter" pitchFamily="49" charset="0"/>
              </a:rP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lnSpc>
                <a:spcPct val="150000"/>
              </a:lnSpc>
            </a:pPr>
            <a:r>
              <a:rPr lang="en-US" sz="2000" dirty="0">
                <a:latin typeface="Lucida Sans Typewriter" pitchFamily="49" charset="0"/>
              </a:rPr>
              <a:t>Given </a:t>
            </a:r>
            <a:r>
              <a:rPr lang="en-US" sz="2000" b="1" dirty="0">
                <a:latin typeface="Lucida Sans Typewriter" pitchFamily="49" charset="0"/>
              </a:rPr>
              <a:t>N</a:t>
            </a:r>
            <a:r>
              <a:rPr lang="en-US" sz="2000" dirty="0">
                <a:latin typeface="Lucida Sans Typewriter" pitchFamily="49" charset="0"/>
              </a:rPr>
              <a:t> items where each item has some weight and profit associated with it and also given a bag with capacity </a:t>
            </a:r>
            <a:r>
              <a:rPr lang="en-US" sz="2000" b="1" dirty="0">
                <a:latin typeface="Lucida Sans Typewriter" pitchFamily="49" charset="0"/>
              </a:rPr>
              <a:t>W</a:t>
            </a:r>
            <a:r>
              <a:rPr lang="en-US" sz="2000" dirty="0">
                <a:latin typeface="Lucida Sans Typewriter" pitchFamily="49" charset="0"/>
              </a:rPr>
              <a:t>, [i.e., the bag can hold at most </a:t>
            </a:r>
            <a:r>
              <a:rPr lang="en-US" sz="2000" b="1" dirty="0">
                <a:latin typeface="Lucida Sans Typewriter" pitchFamily="49" charset="0"/>
              </a:rPr>
              <a:t>W</a:t>
            </a:r>
            <a:r>
              <a:rPr lang="en-US" sz="2000" dirty="0">
                <a:latin typeface="Lucida Sans Typewriter" pitchFamily="49" charset="0"/>
              </a:rPr>
              <a:t> weight in it]. The task is to put the items into the bag such that the sum of profits associated with them is the maximum possible. </a:t>
            </a:r>
          </a:p>
          <a:p>
            <a:pPr fontAlgn="base">
              <a:lnSpc>
                <a:spcPct val="150000"/>
              </a:lnSpc>
            </a:pPr>
            <a:r>
              <a:rPr lang="en-US" sz="2000" b="1" dirty="0">
                <a:latin typeface="Lucida Sans Typewriter" pitchFamily="49" charset="0"/>
              </a:rPr>
              <a:t>Note:</a:t>
            </a:r>
            <a:r>
              <a:rPr lang="en-US" sz="2000" dirty="0">
                <a:latin typeface="Lucida Sans Typewriter" pitchFamily="49" charset="0"/>
              </a:rPr>
              <a:t> The constraint here is we can either put an item completely into the bag or cannot put it at all [It is not possible to put a part of an item into the bag].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Lucida Sans Typewrit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454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Lucida Sans Typewriter" pitchFamily="49" charset="0"/>
              </a:rP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1600" dirty="0">
                <a:latin typeface="Lucida Sans Typewriter" pitchFamily="49" charset="0"/>
              </a:rPr>
              <a:t>Consider the following n items and knapsack capacity W=5.</a:t>
            </a:r>
          </a:p>
          <a:p>
            <a:pPr marL="0" indent="0" fontAlgn="base">
              <a:buNone/>
            </a:pPr>
            <a:r>
              <a:rPr lang="en-US" sz="1600" dirty="0">
                <a:latin typeface="Lucida Sans Typewriter" pitchFamily="49" charset="0"/>
              </a:rPr>
              <a:t>You can either take an entire item or don’t take at all. You want to make maximum profit by taking the items.</a:t>
            </a:r>
          </a:p>
          <a:p>
            <a:pPr marL="0" indent="0" fontAlgn="base">
              <a:buNone/>
            </a:pPr>
            <a:endParaRPr lang="en-US" sz="1600" dirty="0">
              <a:latin typeface="Lucida Sans Typewriter" pitchFamily="49" charset="0"/>
            </a:endParaRPr>
          </a:p>
          <a:p>
            <a:pPr marL="0" indent="0" fontAlgn="base">
              <a:buNone/>
            </a:pPr>
            <a:endParaRPr lang="en-US" sz="1600" dirty="0">
              <a:latin typeface="Lucida Sans Typewriter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71800" y="3429000"/>
          <a:ext cx="39624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0361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24800" y="228600"/>
          <a:ext cx="220980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83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33601" y="1981200"/>
          <a:ext cx="609599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57400" y="4572001"/>
            <a:ext cx="79248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Lucida Sans Typewriter" pitchFamily="49" charset="0"/>
              </a:rPr>
              <a:t>P(2,5)</a:t>
            </a:r>
            <a:r>
              <a:rPr lang="en-US" sz="1400" dirty="0">
                <a:latin typeface="Lucida Sans Typewriter" pitchFamily="49" charset="0"/>
              </a:rPr>
              <a:t>	indicates the maximum profit you can make if you have 1</a:t>
            </a:r>
            <a:r>
              <a:rPr lang="en-US" sz="1400" baseline="30000" dirty="0">
                <a:latin typeface="Lucida Sans Typewriter" pitchFamily="49" charset="0"/>
              </a:rPr>
              <a:t>st</a:t>
            </a:r>
            <a:r>
              <a:rPr lang="en-US" sz="1400" dirty="0">
                <a:latin typeface="Lucida Sans Typewriter" pitchFamily="49" charset="0"/>
              </a:rPr>
              <a:t> 2 items available and knapsack capacity is 5</a:t>
            </a:r>
          </a:p>
          <a:p>
            <a:endParaRPr lang="en-US" sz="1400" dirty="0">
              <a:latin typeface="Lucida Sans Typewriter" pitchFamily="49" charset="0"/>
            </a:endParaRPr>
          </a:p>
          <a:p>
            <a:r>
              <a:rPr lang="en-US" sz="1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Sans Typewriter" pitchFamily="49" charset="0"/>
              </a:rPr>
              <a:t>P(4,3) </a:t>
            </a:r>
            <a:r>
              <a:rPr lang="en-US" sz="1400" dirty="0">
                <a:latin typeface="Lucida Sans Typewriter" pitchFamily="49" charset="0"/>
              </a:rPr>
              <a:t>indicates the maximum profit you can make if you have 1</a:t>
            </a:r>
            <a:r>
              <a:rPr lang="en-US" sz="1400" baseline="30000" dirty="0">
                <a:latin typeface="Lucida Sans Typewriter" pitchFamily="49" charset="0"/>
              </a:rPr>
              <a:t>st</a:t>
            </a:r>
            <a:r>
              <a:rPr lang="en-US" sz="1400" dirty="0">
                <a:latin typeface="Lucida Sans Typewriter" pitchFamily="49" charset="0"/>
              </a:rPr>
              <a:t> 4 items available and knapsack capacity is 3</a:t>
            </a:r>
          </a:p>
          <a:p>
            <a:endParaRPr lang="en-US" sz="1400" dirty="0">
              <a:latin typeface="Lucida Sans Typewriter" pitchFamily="49" charset="0"/>
            </a:endParaRPr>
          </a:p>
          <a:p>
            <a:r>
              <a:rPr lang="en-US" sz="1400" dirty="0">
                <a:latin typeface="Lucida Sans Typewriter" pitchFamily="49" charset="0"/>
              </a:rPr>
              <a:t>While considering an item, we can take it or can skip the item.</a:t>
            </a:r>
          </a:p>
          <a:p>
            <a:endParaRPr lang="en-US" dirty="0">
              <a:latin typeface="Lucida Sans Typewriter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33600" y="381000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Each row is for each item</a:t>
            </a:r>
          </a:p>
          <a:p>
            <a:r>
              <a:rPr lang="en-US" sz="1400" dirty="0">
                <a:latin typeface="Lucida Sans Typewriter" pitchFamily="49" charset="0"/>
              </a:rPr>
              <a:t>Each column is for knapsack capacity</a:t>
            </a:r>
          </a:p>
        </p:txBody>
      </p:sp>
    </p:spTree>
    <p:extLst>
      <p:ext uri="{BB962C8B-B14F-4D97-AF65-F5344CB8AC3E}">
        <p14:creationId xmlns:p14="http://schemas.microsoft.com/office/powerpoint/2010/main" val="165333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24800" y="228600"/>
          <a:ext cx="220980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83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33601" y="1981200"/>
          <a:ext cx="609599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828800" y="4334232"/>
            <a:ext cx="7924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While considering an item, we can take it or can skip the item.</a:t>
            </a:r>
          </a:p>
          <a:p>
            <a:endParaRPr lang="en-US" sz="1400" dirty="0">
              <a:latin typeface="Lucida Sans Typewriter" pitchFamily="49" charset="0"/>
            </a:endParaRPr>
          </a:p>
          <a:p>
            <a:r>
              <a:rPr lang="en-US" sz="1400" dirty="0">
                <a:latin typeface="Lucida Sans Typewriter" pitchFamily="49" charset="0"/>
              </a:rPr>
              <a:t>P(i, W) -&gt; we have items form 1 to i and knapsack capacity = W</a:t>
            </a:r>
          </a:p>
          <a:p>
            <a:r>
              <a:rPr lang="en-US" sz="1400" dirty="0">
                <a:latin typeface="Lucida Sans Typewriter" pitchFamily="49" charset="0"/>
              </a:rPr>
              <a:t>At this point we can take </a:t>
            </a:r>
            <a:r>
              <a:rPr lang="en-US" sz="1400" dirty="0" err="1">
                <a:latin typeface="Lucida Sans Typewriter" pitchFamily="49" charset="0"/>
              </a:rPr>
              <a:t>ith</a:t>
            </a:r>
            <a:r>
              <a:rPr lang="en-US" sz="1400" dirty="0">
                <a:latin typeface="Lucida Sans Typewriter" pitchFamily="49" charset="0"/>
              </a:rPr>
              <a:t> item or skip it.</a:t>
            </a:r>
          </a:p>
          <a:p>
            <a:r>
              <a:rPr lang="en-US" sz="1400" dirty="0">
                <a:latin typeface="Lucida Sans Typewriter" pitchFamily="49" charset="0"/>
              </a:rPr>
              <a:t>If we skip </a:t>
            </a:r>
            <a:r>
              <a:rPr lang="en-US" sz="1400" dirty="0" err="1">
                <a:latin typeface="Lucida Sans Typewriter" pitchFamily="49" charset="0"/>
              </a:rPr>
              <a:t>ith</a:t>
            </a:r>
            <a:r>
              <a:rPr lang="en-US" sz="1400" dirty="0">
                <a:latin typeface="Lucida Sans Typewriter" pitchFamily="49" charset="0"/>
              </a:rPr>
              <a:t> item, we have (i-1) items available and W will remain same, as we didn’t put the item. Then P(i, W) = P(i-1, W)</a:t>
            </a:r>
          </a:p>
          <a:p>
            <a:r>
              <a:rPr lang="en-US" sz="1400" dirty="0">
                <a:latin typeface="Lucida Sans Typewriter" pitchFamily="49" charset="0"/>
              </a:rPr>
              <a:t>If we take </a:t>
            </a:r>
            <a:r>
              <a:rPr lang="en-US" sz="1400" dirty="0" err="1">
                <a:latin typeface="Lucida Sans Typewriter" pitchFamily="49" charset="0"/>
              </a:rPr>
              <a:t>ith</a:t>
            </a:r>
            <a:r>
              <a:rPr lang="en-US" sz="1400" dirty="0">
                <a:latin typeface="Lucida Sans Typewriter" pitchFamily="49" charset="0"/>
              </a:rPr>
              <a:t> item, considering </a:t>
            </a:r>
            <a:r>
              <a:rPr lang="en-US" sz="1400" dirty="0" err="1">
                <a:latin typeface="Lucida Sans Typewriter" pitchFamily="49" charset="0"/>
              </a:rPr>
              <a:t>w</a:t>
            </a:r>
            <a:r>
              <a:rPr lang="en-US" sz="1400" baseline="-25000" dirty="0" err="1">
                <a:latin typeface="Lucida Sans Typewriter" pitchFamily="49" charset="0"/>
              </a:rPr>
              <a:t>i</a:t>
            </a:r>
            <a:r>
              <a:rPr lang="en-US" sz="1400" dirty="0">
                <a:latin typeface="Lucida Sans Typewriter" pitchFamily="49" charset="0"/>
              </a:rPr>
              <a:t> and v</a:t>
            </a:r>
            <a:r>
              <a:rPr lang="en-US" sz="1400" baseline="-25000" dirty="0">
                <a:latin typeface="Lucida Sans Typewriter" pitchFamily="49" charset="0"/>
              </a:rPr>
              <a:t>i</a:t>
            </a:r>
            <a:r>
              <a:rPr lang="en-US" sz="1400" dirty="0">
                <a:latin typeface="Lucida Sans Typewriter" pitchFamily="49" charset="0"/>
              </a:rPr>
              <a:t>, taking </a:t>
            </a:r>
            <a:r>
              <a:rPr lang="en-US" sz="1400" dirty="0" err="1">
                <a:latin typeface="Lucida Sans Typewriter" pitchFamily="49" charset="0"/>
              </a:rPr>
              <a:t>ith</a:t>
            </a:r>
            <a:r>
              <a:rPr lang="en-US" sz="1400" dirty="0">
                <a:latin typeface="Lucida Sans Typewriter" pitchFamily="49" charset="0"/>
              </a:rPr>
              <a:t> item profit = v</a:t>
            </a:r>
            <a:r>
              <a:rPr lang="en-US" sz="1400" baseline="-25000" dirty="0">
                <a:latin typeface="Lucida Sans Typewriter" pitchFamily="49" charset="0"/>
              </a:rPr>
              <a:t>i</a:t>
            </a:r>
            <a:r>
              <a:rPr lang="en-US" sz="1400" dirty="0">
                <a:latin typeface="Lucida Sans Typewriter" pitchFamily="49" charset="0"/>
              </a:rPr>
              <a:t>. remaining items = i-1 and remaining capacity = W – </a:t>
            </a:r>
            <a:r>
              <a:rPr lang="en-US" sz="1400" dirty="0" err="1">
                <a:latin typeface="Lucida Sans Typewriter" pitchFamily="49" charset="0"/>
              </a:rPr>
              <a:t>wi</a:t>
            </a:r>
            <a:r>
              <a:rPr lang="en-US" sz="1400" dirty="0">
                <a:latin typeface="Lucida Sans Typewriter" pitchFamily="49" charset="0"/>
              </a:rPr>
              <a:t>. </a:t>
            </a:r>
          </a:p>
          <a:p>
            <a:r>
              <a:rPr lang="en-US" sz="1400" dirty="0">
                <a:latin typeface="Lucida Sans Typewriter" pitchFamily="49" charset="0"/>
              </a:rPr>
              <a:t>Then ,P(i, W) = v</a:t>
            </a:r>
            <a:r>
              <a:rPr lang="en-US" sz="1400" baseline="-25000" dirty="0">
                <a:latin typeface="Lucida Sans Typewriter" pitchFamily="49" charset="0"/>
              </a:rPr>
              <a:t>i</a:t>
            </a:r>
            <a:r>
              <a:rPr lang="en-US" sz="1400" dirty="0">
                <a:latin typeface="Lucida Sans Typewriter" pitchFamily="49" charset="0"/>
              </a:rPr>
              <a:t> + P(i-1, W-</a:t>
            </a:r>
            <a:r>
              <a:rPr lang="en-US" sz="1400" dirty="0" err="1">
                <a:latin typeface="Lucida Sans Typewriter" pitchFamily="49" charset="0"/>
              </a:rPr>
              <a:t>w</a:t>
            </a:r>
            <a:r>
              <a:rPr lang="en-US" sz="1400" baseline="-25000" dirty="0" err="1">
                <a:latin typeface="Lucida Sans Typewriter" pitchFamily="49" charset="0"/>
              </a:rPr>
              <a:t>i</a:t>
            </a:r>
            <a:r>
              <a:rPr lang="en-US" sz="1400" dirty="0">
                <a:latin typeface="Lucida Sans Typewriter" pitchFamily="49" charset="0"/>
              </a:rPr>
              <a:t>)</a:t>
            </a:r>
          </a:p>
          <a:p>
            <a:r>
              <a:rPr lang="en-US" sz="1400" dirty="0">
                <a:latin typeface="Lucida Sans Typewriter" pitchFamily="49" charset="0"/>
              </a:rPr>
              <a:t>P(i, W) = max { </a:t>
            </a:r>
            <a:r>
              <a:rPr lang="en-US" sz="1400" dirty="0">
                <a:solidFill>
                  <a:srgbClr val="FF0000"/>
                </a:solidFill>
                <a:latin typeface="Lucida Sans Typewriter" pitchFamily="49" charset="0"/>
              </a:rPr>
              <a:t>v</a:t>
            </a:r>
            <a:r>
              <a:rPr lang="en-US" sz="1400" baseline="-25000" dirty="0">
                <a:solidFill>
                  <a:srgbClr val="FF0000"/>
                </a:solidFill>
                <a:latin typeface="Lucida Sans Typewriter" pitchFamily="49" charset="0"/>
              </a:rPr>
              <a:t>i</a:t>
            </a:r>
            <a:r>
              <a:rPr lang="en-US" sz="1400" dirty="0">
                <a:solidFill>
                  <a:srgbClr val="FF0000"/>
                </a:solidFill>
                <a:latin typeface="Lucida Sans Typewriter" pitchFamily="49" charset="0"/>
              </a:rPr>
              <a:t> + P(i-1, W-</a:t>
            </a:r>
            <a:r>
              <a:rPr lang="en-US" sz="1400" dirty="0" err="1">
                <a:solidFill>
                  <a:srgbClr val="FF0000"/>
                </a:solidFill>
                <a:latin typeface="Lucida Sans Typewriter" pitchFamily="49" charset="0"/>
              </a:rPr>
              <a:t>w</a:t>
            </a:r>
            <a:r>
              <a:rPr lang="en-US" sz="1400" baseline="-25000" dirty="0" err="1">
                <a:solidFill>
                  <a:srgbClr val="FF0000"/>
                </a:solidFill>
                <a:latin typeface="Lucida Sans Typewriter" pitchFamily="49" charset="0"/>
              </a:rPr>
              <a:t>i</a:t>
            </a:r>
            <a:r>
              <a:rPr lang="en-US" sz="1400" dirty="0">
                <a:solidFill>
                  <a:srgbClr val="FF0000"/>
                </a:solidFill>
                <a:latin typeface="Lucida Sans Typewriter" pitchFamily="49" charset="0"/>
              </a:rPr>
              <a:t>) </a:t>
            </a:r>
            <a:r>
              <a:rPr lang="en-US" sz="1400" dirty="0">
                <a:latin typeface="Lucida Sans Typewriter" pitchFamily="49" charset="0"/>
              </a:rPr>
              <a:t>,  </a:t>
            </a:r>
            <a:r>
              <a:rPr lang="en-US" sz="1400" dirty="0">
                <a:solidFill>
                  <a:srgbClr val="00B050"/>
                </a:solidFill>
                <a:latin typeface="Lucida Sans Typewriter" pitchFamily="49" charset="0"/>
              </a:rPr>
              <a:t>P(i-1, W) </a:t>
            </a:r>
            <a:r>
              <a:rPr lang="en-US" sz="1400" dirty="0">
                <a:latin typeface="Lucida Sans Typewriter" pitchFamily="49" charset="0"/>
              </a:rPr>
              <a:t>}</a:t>
            </a:r>
            <a:endParaRPr lang="en-US" dirty="0">
              <a:latin typeface="Lucida Sans Typewriter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33600" y="381000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Each row is for each item</a:t>
            </a:r>
          </a:p>
          <a:p>
            <a:r>
              <a:rPr lang="en-US" sz="1400" dirty="0">
                <a:latin typeface="Lucida Sans Typewriter" pitchFamily="49" charset="0"/>
              </a:rPr>
              <a:t>Each column is for knapsack capacity</a:t>
            </a:r>
          </a:p>
        </p:txBody>
      </p:sp>
    </p:spTree>
    <p:extLst>
      <p:ext uri="{BB962C8B-B14F-4D97-AF65-F5344CB8AC3E}">
        <p14:creationId xmlns:p14="http://schemas.microsoft.com/office/powerpoint/2010/main" val="4037809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24800" y="228600"/>
          <a:ext cx="220980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83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33601" y="1981200"/>
          <a:ext cx="609599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57400" y="4572001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Since, we have no items available, we can’t make any profit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133600" y="381001"/>
            <a:ext cx="518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Consider the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 0</a:t>
            </a:r>
            <a:r>
              <a:rPr lang="en-US" sz="1400" b="1" baseline="30000" dirty="0">
                <a:solidFill>
                  <a:srgbClr val="FF0000"/>
                </a:solidFill>
                <a:latin typeface="Lucida Sans Typewriter" pitchFamily="49" charset="0"/>
              </a:rPr>
              <a:t>th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 row </a:t>
            </a:r>
          </a:p>
          <a:p>
            <a:r>
              <a:rPr lang="en-US" sz="1400" dirty="0">
                <a:latin typeface="Lucida Sans Typewriter" pitchFamily="49" charset="0"/>
              </a:rPr>
              <a:t>Our task is how much profit you can make taking no items for different knapsack capacity</a:t>
            </a:r>
          </a:p>
        </p:txBody>
      </p:sp>
    </p:spTree>
    <p:extLst>
      <p:ext uri="{BB962C8B-B14F-4D97-AF65-F5344CB8AC3E}">
        <p14:creationId xmlns:p14="http://schemas.microsoft.com/office/powerpoint/2010/main" val="1955117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24800" y="228600"/>
          <a:ext cx="220980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83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33601" y="1981200"/>
          <a:ext cx="609599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57400" y="4572001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Since, knapsack capacity is 0, we can’t make any profit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133600" y="381000"/>
            <a:ext cx="5181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Consider the 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0</a:t>
            </a:r>
            <a:r>
              <a:rPr lang="en-US" sz="1400" b="1" baseline="30000" dirty="0">
                <a:solidFill>
                  <a:srgbClr val="FF0000"/>
                </a:solidFill>
                <a:latin typeface="Lucida Sans Typewriter" pitchFamily="49" charset="0"/>
              </a:rPr>
              <a:t>th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 column </a:t>
            </a:r>
          </a:p>
          <a:p>
            <a:r>
              <a:rPr lang="en-US" sz="1400" dirty="0">
                <a:latin typeface="Lucida Sans Typewriter" pitchFamily="49" charset="0"/>
              </a:rPr>
              <a:t>Our task is how much profit you can make if knapsack capacity is 0</a:t>
            </a:r>
          </a:p>
        </p:txBody>
      </p:sp>
    </p:spTree>
    <p:extLst>
      <p:ext uri="{BB962C8B-B14F-4D97-AF65-F5344CB8AC3E}">
        <p14:creationId xmlns:p14="http://schemas.microsoft.com/office/powerpoint/2010/main" val="4194249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24800" y="228600"/>
          <a:ext cx="220980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83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33601" y="1981200"/>
          <a:ext cx="609599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57400" y="4572001"/>
            <a:ext cx="792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At this point, we will either take item 1 or skip it, w1=2, v1=12</a:t>
            </a:r>
          </a:p>
          <a:p>
            <a:endParaRPr lang="en-GB" sz="1400" dirty="0">
              <a:latin typeface="Lucida Sans Typewriter" pitchFamily="49" charset="0"/>
            </a:endParaRPr>
          </a:p>
          <a:p>
            <a:r>
              <a:rPr lang="en-GB" sz="1400" dirty="0">
                <a:latin typeface="Lucida Sans Typewriter" pitchFamily="49" charset="0"/>
              </a:rPr>
              <a:t>Since, knapsack capacity , w(1) &lt;= w1(2) , we can’t take item 1</a:t>
            </a:r>
          </a:p>
          <a:p>
            <a:endParaRPr lang="en-GB" sz="1400" dirty="0">
              <a:latin typeface="Lucida Sans Typewriter" pitchFamily="49" charset="0"/>
            </a:endParaRPr>
          </a:p>
          <a:p>
            <a:r>
              <a:rPr lang="en-GB" sz="1400" dirty="0">
                <a:latin typeface="Lucida Sans Typewriter" pitchFamily="49" charset="0"/>
              </a:rPr>
              <a:t>P(1,1) = P(0,1) </a:t>
            </a:r>
            <a:endParaRPr lang="en-US" sz="1600" dirty="0">
              <a:latin typeface="Lucida Sans Typewriter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33600" y="381001"/>
            <a:ext cx="518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Consider the 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1</a:t>
            </a:r>
            <a:r>
              <a:rPr lang="en-US" sz="1400" b="1" baseline="30000" dirty="0">
                <a:solidFill>
                  <a:srgbClr val="FF0000"/>
                </a:solidFill>
                <a:latin typeface="Lucida Sans Typewriter" pitchFamily="49" charset="0"/>
              </a:rPr>
              <a:t>st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 row</a:t>
            </a:r>
          </a:p>
          <a:p>
            <a:r>
              <a:rPr lang="en-US" sz="1400" dirty="0">
                <a:latin typeface="Lucida Sans Typewriter" pitchFamily="49" charset="0"/>
              </a:rPr>
              <a:t>Our task is how much profit you can make taking only 1</a:t>
            </a:r>
            <a:r>
              <a:rPr lang="en-US" sz="1400" baseline="30000" dirty="0">
                <a:latin typeface="Lucida Sans Typewriter" pitchFamily="49" charset="0"/>
              </a:rPr>
              <a:t>st</a:t>
            </a:r>
            <a:r>
              <a:rPr lang="en-US" sz="1400" dirty="0">
                <a:latin typeface="Lucida Sans Typewriter" pitchFamily="49" charset="0"/>
              </a:rPr>
              <a:t> item for different knapsack capacity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EB0F57-0CF4-C3BF-0565-13B2F81AD15C}"/>
              </a:ext>
            </a:extLst>
          </p:cNvPr>
          <p:cNvSpPr txBox="1"/>
          <p:nvPr/>
        </p:nvSpPr>
        <p:spPr>
          <a:xfrm>
            <a:off x="8458201" y="3275112"/>
            <a:ext cx="1688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Lucida Sans Typewriter" panose="020B0509030504030204" pitchFamily="49" charset="0"/>
              </a:rPr>
              <a:t>Target problem</a:t>
            </a:r>
            <a:endParaRPr lang="en-US" sz="1400" dirty="0">
              <a:latin typeface="Lucida Sans Typewriter" panose="020B05090305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3B2AA2-2F4F-8F86-01D1-F12544741143}"/>
              </a:ext>
            </a:extLst>
          </p:cNvPr>
          <p:cNvSpPr txBox="1"/>
          <p:nvPr/>
        </p:nvSpPr>
        <p:spPr>
          <a:xfrm>
            <a:off x="8610600" y="2438401"/>
            <a:ext cx="12586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Lucida Sans Typewriter" panose="020B0509030504030204" pitchFamily="49" charset="0"/>
              </a:rPr>
              <a:t>subproblem</a:t>
            </a:r>
            <a:endParaRPr lang="en-US" sz="1400" dirty="0">
              <a:latin typeface="Lucida Sans Typewriter" panose="020B0509030504030204" pitchFamily="49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23FFA5-836B-12F0-F351-27C8C94E2758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4419600" y="2438401"/>
            <a:ext cx="4191000" cy="15388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24276E-9A4D-E745-772B-5AA8D60134B8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4152900" y="2927456"/>
            <a:ext cx="4305300" cy="50154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846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24800" y="228600"/>
          <a:ext cx="220980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83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33601" y="1981200"/>
          <a:ext cx="609599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0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57400" y="4572001"/>
            <a:ext cx="792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At this point, we will either take item 1 or skip it, w1=2, v1=12</a:t>
            </a:r>
          </a:p>
          <a:p>
            <a:endParaRPr lang="en-GB" sz="1400" dirty="0">
              <a:latin typeface="Lucida Sans Typewriter" pitchFamily="49" charset="0"/>
            </a:endParaRPr>
          </a:p>
          <a:p>
            <a:r>
              <a:rPr lang="en-GB" sz="1400" dirty="0">
                <a:latin typeface="Lucida Sans Typewriter" pitchFamily="49" charset="0"/>
              </a:rPr>
              <a:t>Since, knapsack capacity , w1(2) &lt;= W(1) , we can’t take item 1</a:t>
            </a:r>
          </a:p>
          <a:p>
            <a:endParaRPr lang="en-GB" sz="1400" dirty="0">
              <a:latin typeface="Lucida Sans Typewriter" pitchFamily="49" charset="0"/>
            </a:endParaRPr>
          </a:p>
          <a:p>
            <a:r>
              <a:rPr lang="en-GB" sz="1400" dirty="0">
                <a:latin typeface="Lucida Sans Typewriter" pitchFamily="49" charset="0"/>
              </a:rPr>
              <a:t>P(1,1) = P(0,1) </a:t>
            </a:r>
            <a:endParaRPr lang="en-US" sz="1600" dirty="0">
              <a:latin typeface="Lucida Sans Typewriter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33600" y="381001"/>
            <a:ext cx="518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Consider the 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1</a:t>
            </a:r>
            <a:r>
              <a:rPr lang="en-US" sz="1400" b="1" baseline="30000" dirty="0">
                <a:solidFill>
                  <a:srgbClr val="FF0000"/>
                </a:solidFill>
                <a:latin typeface="Lucida Sans Typewriter" pitchFamily="49" charset="0"/>
              </a:rPr>
              <a:t>st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 row</a:t>
            </a:r>
          </a:p>
          <a:p>
            <a:r>
              <a:rPr lang="en-US" sz="1400" dirty="0">
                <a:latin typeface="Lucida Sans Typewriter" pitchFamily="49" charset="0"/>
              </a:rPr>
              <a:t>Our task is how much profit you can make taking only 1</a:t>
            </a:r>
            <a:r>
              <a:rPr lang="en-US" sz="1400" baseline="30000" dirty="0">
                <a:latin typeface="Lucida Sans Typewriter" pitchFamily="49" charset="0"/>
              </a:rPr>
              <a:t>st</a:t>
            </a:r>
            <a:r>
              <a:rPr lang="en-US" sz="1400" dirty="0">
                <a:latin typeface="Lucida Sans Typewriter" pitchFamily="49" charset="0"/>
              </a:rPr>
              <a:t> item for different knapsack capacity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898C5C1-BD17-5EA5-B3CF-DB4FDF464E1C}"/>
              </a:ext>
            </a:extLst>
          </p:cNvPr>
          <p:cNvCxnSpPr>
            <a:cxnSpLocks/>
          </p:cNvCxnSpPr>
          <p:nvPr/>
        </p:nvCxnSpPr>
        <p:spPr>
          <a:xfrm flipV="1">
            <a:off x="4267200" y="27432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765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24800" y="228600"/>
          <a:ext cx="220980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83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33601" y="1981200"/>
          <a:ext cx="609599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ucida Sans Typewriter" pitchFamily="49" charset="0"/>
                        </a:rPr>
                        <a:t>0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0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57400" y="4572001"/>
            <a:ext cx="792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At this point, we will either take item 1 or skip it, w1=2, v1=12</a:t>
            </a:r>
          </a:p>
          <a:p>
            <a:endParaRPr lang="en-GB" sz="1400" dirty="0">
              <a:latin typeface="Lucida Sans Typewriter" pitchFamily="49" charset="0"/>
            </a:endParaRPr>
          </a:p>
          <a:p>
            <a:r>
              <a:rPr lang="en-GB" sz="1400" dirty="0">
                <a:latin typeface="Lucida Sans Typewriter" pitchFamily="49" charset="0"/>
              </a:rPr>
              <a:t>Since, knapsack capacity , w1(2) &lt;= W(2), we can take item 1 or skip it</a:t>
            </a:r>
          </a:p>
          <a:p>
            <a:endParaRPr lang="en-GB" sz="1400" dirty="0">
              <a:latin typeface="Lucida Sans Typewriter" pitchFamily="49" charset="0"/>
            </a:endParaRPr>
          </a:p>
          <a:p>
            <a:r>
              <a:rPr lang="en-GB" sz="1400" dirty="0">
                <a:latin typeface="Lucida Sans Typewriter" pitchFamily="49" charset="0"/>
              </a:rPr>
              <a:t>P(1,2) = max( v1+P(0,0) , P(0,2) ) = max ( 12, 0 ) =12</a:t>
            </a:r>
            <a:endParaRPr lang="en-US" sz="1600" dirty="0">
              <a:latin typeface="Lucida Sans Typewriter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33600" y="381001"/>
            <a:ext cx="518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Consider the 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1</a:t>
            </a:r>
            <a:r>
              <a:rPr lang="en-US" sz="1400" b="1" baseline="30000" dirty="0">
                <a:solidFill>
                  <a:srgbClr val="FF0000"/>
                </a:solidFill>
                <a:latin typeface="Lucida Sans Typewriter" pitchFamily="49" charset="0"/>
              </a:rPr>
              <a:t>st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 row</a:t>
            </a:r>
          </a:p>
          <a:p>
            <a:r>
              <a:rPr lang="en-US" sz="1400" dirty="0">
                <a:latin typeface="Lucida Sans Typewriter" pitchFamily="49" charset="0"/>
              </a:rPr>
              <a:t>Our task is how much profit you can make taking only 1</a:t>
            </a:r>
            <a:r>
              <a:rPr lang="en-US" sz="1400" baseline="30000" dirty="0">
                <a:latin typeface="Lucida Sans Typewriter" pitchFamily="49" charset="0"/>
              </a:rPr>
              <a:t>st</a:t>
            </a:r>
            <a:r>
              <a:rPr lang="en-US" sz="1400" dirty="0">
                <a:latin typeface="Lucida Sans Typewriter" pitchFamily="49" charset="0"/>
              </a:rPr>
              <a:t> item for different knapsack capacity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90E1BC-6DF9-96F2-607F-CD1AD0780EF8}"/>
              </a:ext>
            </a:extLst>
          </p:cNvPr>
          <p:cNvCxnSpPr>
            <a:cxnSpLocks/>
          </p:cNvCxnSpPr>
          <p:nvPr/>
        </p:nvCxnSpPr>
        <p:spPr>
          <a:xfrm flipV="1">
            <a:off x="4267200" y="27432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A4D4F4D-0245-B66F-FBCE-F8AD36050ED3}"/>
              </a:ext>
            </a:extLst>
          </p:cNvPr>
          <p:cNvCxnSpPr/>
          <p:nvPr/>
        </p:nvCxnSpPr>
        <p:spPr>
          <a:xfrm flipH="1" flipV="1">
            <a:off x="5105400" y="278892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253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24800" y="228600"/>
          <a:ext cx="220980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83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33601" y="1981200"/>
          <a:ext cx="609599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57400" y="4572000"/>
            <a:ext cx="7924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At this point, we will either take item 1 or skip it, w1=2, v1=12</a:t>
            </a:r>
          </a:p>
          <a:p>
            <a:endParaRPr lang="en-US" sz="1400" dirty="0">
              <a:latin typeface="Lucida Sans Typewriter" pitchFamily="49" charset="0"/>
            </a:endParaRPr>
          </a:p>
          <a:p>
            <a:r>
              <a:rPr lang="en-US" sz="1400" dirty="0">
                <a:latin typeface="Lucida Sans Typewriter" pitchFamily="49" charset="0"/>
              </a:rPr>
              <a:t>P(1,1)-&gt; w1&lt;=W(1)? False. P(1,1) = P(0, 1) = 0</a:t>
            </a:r>
          </a:p>
          <a:p>
            <a:r>
              <a:rPr lang="en-US" sz="1400" dirty="0">
                <a:latin typeface="Lucida Sans Typewriter" pitchFamily="49" charset="0"/>
              </a:rPr>
              <a:t>P(1,2)-&gt; w1&lt;=W(2)? True. P(1,2) = max ( v1+P(0,0) , P(0,2) ) = 12 </a:t>
            </a:r>
          </a:p>
          <a:p>
            <a:r>
              <a:rPr lang="en-US" sz="1400" dirty="0">
                <a:latin typeface="Lucida Sans Typewriter" pitchFamily="49" charset="0"/>
              </a:rPr>
              <a:t>P(1,3)-&gt; w1&lt;=W(3)? True. P(1,3) = max ( v1+P(0,1) , P(0,3) ) = 12 </a:t>
            </a:r>
          </a:p>
          <a:p>
            <a:r>
              <a:rPr lang="en-US" sz="1400" dirty="0">
                <a:latin typeface="Lucida Sans Typewriter" pitchFamily="49" charset="0"/>
              </a:rPr>
              <a:t>P(1,4)-&gt; w1&lt;=W(4)? True. P(1,4) = max ( v1+P(0,2) , P(0,4) ) = 12 </a:t>
            </a:r>
          </a:p>
          <a:p>
            <a:r>
              <a:rPr lang="en-US" sz="1400" dirty="0">
                <a:latin typeface="Lucida Sans Typewriter" pitchFamily="49" charset="0"/>
              </a:rPr>
              <a:t>P(1,5)-&gt; w1&lt;=W(5)? True. P(1,5) = max ( v1+P(0,3) , P(0,5) ) = 12 </a:t>
            </a:r>
          </a:p>
          <a:p>
            <a:endParaRPr lang="en-US" sz="1400" dirty="0">
              <a:latin typeface="Lucida Sans Typewriter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33600" y="381001"/>
            <a:ext cx="518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Consider the 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1</a:t>
            </a:r>
            <a:r>
              <a:rPr lang="en-US" sz="1400" b="1" baseline="30000" dirty="0">
                <a:solidFill>
                  <a:srgbClr val="FF0000"/>
                </a:solidFill>
                <a:latin typeface="Lucida Sans Typewriter" pitchFamily="49" charset="0"/>
              </a:rPr>
              <a:t>st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 row</a:t>
            </a:r>
          </a:p>
          <a:p>
            <a:r>
              <a:rPr lang="en-US" sz="1400" dirty="0">
                <a:latin typeface="Lucida Sans Typewriter" pitchFamily="49" charset="0"/>
              </a:rPr>
              <a:t>Our task is how much profit you can make taking only 1</a:t>
            </a:r>
            <a:r>
              <a:rPr lang="en-US" sz="1400" baseline="30000" dirty="0">
                <a:latin typeface="Lucida Sans Typewriter" pitchFamily="49" charset="0"/>
              </a:rPr>
              <a:t>st</a:t>
            </a:r>
            <a:r>
              <a:rPr lang="en-US" sz="1400" dirty="0">
                <a:latin typeface="Lucida Sans Typewriter" pitchFamily="49" charset="0"/>
              </a:rPr>
              <a:t> item for different knapsack capacity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E18F591-E49D-4020-A5CA-3AD4224641BE}"/>
              </a:ext>
            </a:extLst>
          </p:cNvPr>
          <p:cNvCxnSpPr>
            <a:cxnSpLocks/>
          </p:cNvCxnSpPr>
          <p:nvPr/>
        </p:nvCxnSpPr>
        <p:spPr>
          <a:xfrm flipV="1">
            <a:off x="4267200" y="27432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CB3F6E0-3F4D-F348-91AC-3DDB03DF95FC}"/>
              </a:ext>
            </a:extLst>
          </p:cNvPr>
          <p:cNvCxnSpPr/>
          <p:nvPr/>
        </p:nvCxnSpPr>
        <p:spPr>
          <a:xfrm flipH="1" flipV="1">
            <a:off x="5105400" y="278892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432E56C-71E7-C39F-5DE4-F77BB5CD8C1C}"/>
              </a:ext>
            </a:extLst>
          </p:cNvPr>
          <p:cNvCxnSpPr/>
          <p:nvPr/>
        </p:nvCxnSpPr>
        <p:spPr>
          <a:xfrm flipH="1" flipV="1">
            <a:off x="6083559" y="277845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8B8A006-6E64-B679-7E90-5F5AA33C936C}"/>
              </a:ext>
            </a:extLst>
          </p:cNvPr>
          <p:cNvCxnSpPr/>
          <p:nvPr/>
        </p:nvCxnSpPr>
        <p:spPr>
          <a:xfrm flipH="1" flipV="1">
            <a:off x="6976189" y="27432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7C093D-3E0D-BCEC-3D0B-A08B484BFB71}"/>
              </a:ext>
            </a:extLst>
          </p:cNvPr>
          <p:cNvCxnSpPr/>
          <p:nvPr/>
        </p:nvCxnSpPr>
        <p:spPr>
          <a:xfrm flipH="1" flipV="1">
            <a:off x="7814388" y="2747348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078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24800" y="228600"/>
          <a:ext cx="220980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83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33601" y="1981200"/>
          <a:ext cx="609599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57400" y="4572000"/>
            <a:ext cx="79248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At this point, we will either take item 2 or skip it, w2=1, v2=10</a:t>
            </a:r>
          </a:p>
          <a:p>
            <a:endParaRPr lang="en-US" sz="1400" dirty="0">
              <a:latin typeface="Lucida Sans Typewriter" pitchFamily="49" charset="0"/>
            </a:endParaRPr>
          </a:p>
          <a:p>
            <a:r>
              <a:rPr lang="en-US" sz="1400" dirty="0">
                <a:latin typeface="Lucida Sans Typewriter" pitchFamily="49" charset="0"/>
              </a:rPr>
              <a:t>P(2,1)-&gt; w2&lt;=W(1)? True. </a:t>
            </a:r>
          </a:p>
          <a:p>
            <a:endParaRPr lang="en-US" sz="1400" dirty="0">
              <a:latin typeface="Lucida Sans Typewriter" pitchFamily="49" charset="0"/>
            </a:endParaRPr>
          </a:p>
          <a:p>
            <a:r>
              <a:rPr lang="en-US" sz="1400" dirty="0">
                <a:latin typeface="Lucida Sans Typewriter" pitchFamily="49" charset="0"/>
              </a:rPr>
              <a:t>P(2,1) = max ( v2+P(1,0) , P(1,1) ) = max(10,0)=10</a:t>
            </a:r>
          </a:p>
          <a:p>
            <a:endParaRPr lang="en-US" sz="1400" dirty="0">
              <a:latin typeface="Lucida Sans Typewriter" pitchFamily="49" charset="0"/>
            </a:endParaRPr>
          </a:p>
          <a:p>
            <a:endParaRPr lang="en-US" sz="1400" dirty="0">
              <a:latin typeface="Lucida Sans Typewriter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33600" y="381001"/>
            <a:ext cx="518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Consider the 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2</a:t>
            </a:r>
            <a:r>
              <a:rPr lang="en-US" sz="1400" b="1" baseline="30000" dirty="0">
                <a:solidFill>
                  <a:srgbClr val="FF0000"/>
                </a:solidFill>
                <a:latin typeface="Lucida Sans Typewriter" pitchFamily="49" charset="0"/>
              </a:rPr>
              <a:t>nd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 row</a:t>
            </a:r>
          </a:p>
          <a:p>
            <a:r>
              <a:rPr lang="en-US" sz="1400" dirty="0">
                <a:latin typeface="Lucida Sans Typewriter" pitchFamily="49" charset="0"/>
              </a:rPr>
              <a:t>Our task is how much profit you can make taking only 1</a:t>
            </a:r>
            <a:r>
              <a:rPr lang="en-US" sz="1400" baseline="30000" dirty="0">
                <a:latin typeface="Lucida Sans Typewriter" pitchFamily="49" charset="0"/>
              </a:rPr>
              <a:t>st</a:t>
            </a:r>
            <a:r>
              <a:rPr lang="en-US" sz="1400" dirty="0">
                <a:latin typeface="Lucida Sans Typewriter" pitchFamily="49" charset="0"/>
              </a:rPr>
              <a:t> item for different knapsack capacity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E18F591-E49D-4020-A5CA-3AD4224641BE}"/>
              </a:ext>
            </a:extLst>
          </p:cNvPr>
          <p:cNvCxnSpPr>
            <a:cxnSpLocks/>
          </p:cNvCxnSpPr>
          <p:nvPr/>
        </p:nvCxnSpPr>
        <p:spPr>
          <a:xfrm flipV="1">
            <a:off x="4267200" y="27432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CB3F6E0-3F4D-F348-91AC-3DDB03DF95FC}"/>
              </a:ext>
            </a:extLst>
          </p:cNvPr>
          <p:cNvCxnSpPr/>
          <p:nvPr/>
        </p:nvCxnSpPr>
        <p:spPr>
          <a:xfrm flipH="1" flipV="1">
            <a:off x="5105400" y="278892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432E56C-71E7-C39F-5DE4-F77BB5CD8C1C}"/>
              </a:ext>
            </a:extLst>
          </p:cNvPr>
          <p:cNvCxnSpPr/>
          <p:nvPr/>
        </p:nvCxnSpPr>
        <p:spPr>
          <a:xfrm flipH="1" flipV="1">
            <a:off x="6083559" y="277845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8B8A006-6E64-B679-7E90-5F5AA33C936C}"/>
              </a:ext>
            </a:extLst>
          </p:cNvPr>
          <p:cNvCxnSpPr/>
          <p:nvPr/>
        </p:nvCxnSpPr>
        <p:spPr>
          <a:xfrm flipH="1" flipV="1">
            <a:off x="6976189" y="27432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7C093D-3E0D-BCEC-3D0B-A08B484BFB71}"/>
              </a:ext>
            </a:extLst>
          </p:cNvPr>
          <p:cNvCxnSpPr/>
          <p:nvPr/>
        </p:nvCxnSpPr>
        <p:spPr>
          <a:xfrm flipH="1" flipV="1">
            <a:off x="7814388" y="2747348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986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24800" y="228600"/>
          <a:ext cx="220980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83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33601" y="1981200"/>
          <a:ext cx="609599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10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57400" y="4572000"/>
            <a:ext cx="79248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At this point, we will either take item 2 or skip it, w2=1, v2=10</a:t>
            </a:r>
          </a:p>
          <a:p>
            <a:endParaRPr lang="en-US" sz="1400" dirty="0">
              <a:latin typeface="Lucida Sans Typewriter" pitchFamily="49" charset="0"/>
            </a:endParaRPr>
          </a:p>
          <a:p>
            <a:r>
              <a:rPr lang="en-US" sz="1400" dirty="0">
                <a:latin typeface="Lucida Sans Typewriter" pitchFamily="49" charset="0"/>
              </a:rPr>
              <a:t>P(2,1)-&gt; w2&lt;=W(1)? True. </a:t>
            </a:r>
          </a:p>
          <a:p>
            <a:endParaRPr lang="en-US" sz="1400" dirty="0">
              <a:latin typeface="Lucida Sans Typewriter" pitchFamily="49" charset="0"/>
            </a:endParaRPr>
          </a:p>
          <a:p>
            <a:r>
              <a:rPr lang="en-US" sz="1400" dirty="0">
                <a:latin typeface="Lucida Sans Typewriter" pitchFamily="49" charset="0"/>
              </a:rPr>
              <a:t>P(2,1) = max ( v2+P(1,0) , P(1,1) ) = max(10,0)=10</a:t>
            </a:r>
          </a:p>
          <a:p>
            <a:endParaRPr lang="en-US" sz="1400" dirty="0">
              <a:latin typeface="Lucida Sans Typewriter" pitchFamily="49" charset="0"/>
            </a:endParaRPr>
          </a:p>
          <a:p>
            <a:endParaRPr lang="en-US" sz="1400" dirty="0">
              <a:latin typeface="Lucida Sans Typewriter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33600" y="381001"/>
            <a:ext cx="518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Consider the 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2</a:t>
            </a:r>
            <a:r>
              <a:rPr lang="en-US" sz="1400" b="1" baseline="30000" dirty="0">
                <a:solidFill>
                  <a:srgbClr val="FF0000"/>
                </a:solidFill>
                <a:latin typeface="Lucida Sans Typewriter" pitchFamily="49" charset="0"/>
              </a:rPr>
              <a:t>nd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 row</a:t>
            </a:r>
          </a:p>
          <a:p>
            <a:r>
              <a:rPr lang="en-US" sz="1400" dirty="0">
                <a:latin typeface="Lucida Sans Typewriter" pitchFamily="49" charset="0"/>
              </a:rPr>
              <a:t>Our task is how much profit you can make taking only 1</a:t>
            </a:r>
            <a:r>
              <a:rPr lang="en-US" sz="1400" baseline="30000" dirty="0">
                <a:latin typeface="Lucida Sans Typewriter" pitchFamily="49" charset="0"/>
              </a:rPr>
              <a:t>st</a:t>
            </a:r>
            <a:r>
              <a:rPr lang="en-US" sz="1400" dirty="0">
                <a:latin typeface="Lucida Sans Typewriter" pitchFamily="49" charset="0"/>
              </a:rPr>
              <a:t> 2 items for different knapsack capacity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E18F591-E49D-4020-A5CA-3AD4224641BE}"/>
              </a:ext>
            </a:extLst>
          </p:cNvPr>
          <p:cNvCxnSpPr>
            <a:cxnSpLocks/>
          </p:cNvCxnSpPr>
          <p:nvPr/>
        </p:nvCxnSpPr>
        <p:spPr>
          <a:xfrm flipV="1">
            <a:off x="4267200" y="27432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CB3F6E0-3F4D-F348-91AC-3DDB03DF95FC}"/>
              </a:ext>
            </a:extLst>
          </p:cNvPr>
          <p:cNvCxnSpPr/>
          <p:nvPr/>
        </p:nvCxnSpPr>
        <p:spPr>
          <a:xfrm flipH="1" flipV="1">
            <a:off x="5105400" y="278892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432E56C-71E7-C39F-5DE4-F77BB5CD8C1C}"/>
              </a:ext>
            </a:extLst>
          </p:cNvPr>
          <p:cNvCxnSpPr/>
          <p:nvPr/>
        </p:nvCxnSpPr>
        <p:spPr>
          <a:xfrm flipH="1" flipV="1">
            <a:off x="6083559" y="277845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8B8A006-6E64-B679-7E90-5F5AA33C936C}"/>
              </a:ext>
            </a:extLst>
          </p:cNvPr>
          <p:cNvCxnSpPr/>
          <p:nvPr/>
        </p:nvCxnSpPr>
        <p:spPr>
          <a:xfrm flipH="1" flipV="1">
            <a:off x="6976189" y="27432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7C093D-3E0D-BCEC-3D0B-A08B484BFB71}"/>
              </a:ext>
            </a:extLst>
          </p:cNvPr>
          <p:cNvCxnSpPr/>
          <p:nvPr/>
        </p:nvCxnSpPr>
        <p:spPr>
          <a:xfrm flipH="1" flipV="1">
            <a:off x="7814388" y="2747348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52CBB0-E229-3D04-9F2A-4E16C86F8680}"/>
              </a:ext>
            </a:extLst>
          </p:cNvPr>
          <p:cNvCxnSpPr/>
          <p:nvPr/>
        </p:nvCxnSpPr>
        <p:spPr>
          <a:xfrm flipH="1" flipV="1">
            <a:off x="4267200" y="31242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373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24800" y="228600"/>
          <a:ext cx="220980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83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57400" y="4572000"/>
            <a:ext cx="838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At this point, we will either take item 2 or skip it, w2=1, v2=10</a:t>
            </a:r>
          </a:p>
          <a:p>
            <a:endParaRPr lang="en-US" sz="1400" dirty="0">
              <a:latin typeface="Lucida Sans Typewriter" pitchFamily="49" charset="0"/>
            </a:endParaRPr>
          </a:p>
          <a:p>
            <a:r>
              <a:rPr lang="en-US" sz="1400" dirty="0">
                <a:latin typeface="Lucida Sans Typewriter" pitchFamily="49" charset="0"/>
              </a:rPr>
              <a:t>P(2,1)-&gt; w2&lt;=W(1)? True. P(2,1) = max ( v2+P(1,0) , P(1,1) ) = max(10,0)=10</a:t>
            </a:r>
          </a:p>
          <a:p>
            <a:r>
              <a:rPr lang="en-US" sz="1400" dirty="0">
                <a:latin typeface="Lucida Sans Typewriter" pitchFamily="49" charset="0"/>
              </a:rPr>
              <a:t>P(2,2)-&gt; w2&lt;=W(2)? True. P(2,2) = max ( v2+P(1,1) , P(1,2) ) = max(10,12)=12 </a:t>
            </a:r>
          </a:p>
          <a:p>
            <a:r>
              <a:rPr lang="en-US" sz="1400" dirty="0">
                <a:latin typeface="Lucida Sans Typewriter" pitchFamily="49" charset="0"/>
              </a:rPr>
              <a:t>P(2,3)-&gt; w2&lt;=W(3)? True. P(2,3) = max ( v2+P(1,2) , P(1,3) ) = max(22,12)=22</a:t>
            </a:r>
          </a:p>
          <a:p>
            <a:r>
              <a:rPr lang="en-US" sz="1400" dirty="0">
                <a:latin typeface="Lucida Sans Typewriter" pitchFamily="49" charset="0"/>
              </a:rPr>
              <a:t>P(2,4)-&gt; w2&lt;=W(4)? True. P(2,4) = max ( v2+P(1,3) , P(1,4) ) = max(22,12)=22</a:t>
            </a:r>
          </a:p>
          <a:p>
            <a:r>
              <a:rPr lang="en-US" sz="1400" dirty="0">
                <a:latin typeface="Lucida Sans Typewriter" pitchFamily="49" charset="0"/>
              </a:rPr>
              <a:t>P(2,5)-&gt; w2&lt;=W(5)? True. P(2,5) = max ( v2+P(1,4) , P(1,5) ) = max(22,12)=22</a:t>
            </a:r>
          </a:p>
          <a:p>
            <a:endParaRPr lang="en-US" sz="1400" dirty="0">
              <a:latin typeface="Lucida Sans Typewriter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33600" y="381001"/>
            <a:ext cx="518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Consider the 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2</a:t>
            </a:r>
            <a:r>
              <a:rPr lang="en-US" sz="1400" b="1" baseline="30000" dirty="0">
                <a:solidFill>
                  <a:srgbClr val="FF0000"/>
                </a:solidFill>
                <a:latin typeface="Lucida Sans Typewriter" pitchFamily="49" charset="0"/>
              </a:rPr>
              <a:t>nd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 row</a:t>
            </a:r>
          </a:p>
          <a:p>
            <a:r>
              <a:rPr lang="en-US" sz="1400" dirty="0">
                <a:latin typeface="Lucida Sans Typewriter" pitchFamily="49" charset="0"/>
              </a:rPr>
              <a:t>Our task is how much profit you can make taking 1</a:t>
            </a:r>
            <a:r>
              <a:rPr lang="en-US" sz="1400" baseline="30000" dirty="0">
                <a:latin typeface="Lucida Sans Typewriter" pitchFamily="49" charset="0"/>
              </a:rPr>
              <a:t>st</a:t>
            </a:r>
            <a:r>
              <a:rPr lang="en-US" sz="1400" dirty="0">
                <a:latin typeface="Lucida Sans Typewriter" pitchFamily="49" charset="0"/>
              </a:rPr>
              <a:t> 2 items for different knapsack capacity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7F4971B-911B-106F-4D01-4CCC080DE842}"/>
              </a:ext>
            </a:extLst>
          </p:cNvPr>
          <p:cNvGraphicFramePr>
            <a:graphicFrameLocks noGrp="1"/>
          </p:cNvGraphicFramePr>
          <p:nvPr/>
        </p:nvGraphicFramePr>
        <p:xfrm>
          <a:off x="2133601" y="1981200"/>
          <a:ext cx="609599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10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12 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EF86A11-01FB-9719-F8F3-B10CFF789769}"/>
              </a:ext>
            </a:extLst>
          </p:cNvPr>
          <p:cNvCxnSpPr>
            <a:cxnSpLocks/>
          </p:cNvCxnSpPr>
          <p:nvPr/>
        </p:nvCxnSpPr>
        <p:spPr>
          <a:xfrm flipV="1">
            <a:off x="4267200" y="27432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F44CC0-8F5A-7290-A729-9EEA2646D38B}"/>
              </a:ext>
            </a:extLst>
          </p:cNvPr>
          <p:cNvCxnSpPr/>
          <p:nvPr/>
        </p:nvCxnSpPr>
        <p:spPr>
          <a:xfrm flipH="1" flipV="1">
            <a:off x="5105400" y="278892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36670FD-5765-CA56-D701-CF5A0FBAEC8E}"/>
              </a:ext>
            </a:extLst>
          </p:cNvPr>
          <p:cNvCxnSpPr/>
          <p:nvPr/>
        </p:nvCxnSpPr>
        <p:spPr>
          <a:xfrm flipH="1" flipV="1">
            <a:off x="5943600" y="278487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D33F2F0-AC86-B850-981F-305437D416DA}"/>
              </a:ext>
            </a:extLst>
          </p:cNvPr>
          <p:cNvCxnSpPr/>
          <p:nvPr/>
        </p:nvCxnSpPr>
        <p:spPr>
          <a:xfrm flipH="1" flipV="1">
            <a:off x="6858000" y="2744444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E9DA46-B4C3-398A-3636-37D66385C8F2}"/>
              </a:ext>
            </a:extLst>
          </p:cNvPr>
          <p:cNvCxnSpPr/>
          <p:nvPr/>
        </p:nvCxnSpPr>
        <p:spPr>
          <a:xfrm flipH="1" flipV="1">
            <a:off x="7696199" y="27432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A35158-E007-2F73-784D-EF3E1911A3C1}"/>
              </a:ext>
            </a:extLst>
          </p:cNvPr>
          <p:cNvCxnSpPr/>
          <p:nvPr/>
        </p:nvCxnSpPr>
        <p:spPr>
          <a:xfrm flipH="1" flipV="1">
            <a:off x="4414157" y="31242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81AFA5-9844-0E87-F9A1-CA681D74C5C1}"/>
              </a:ext>
            </a:extLst>
          </p:cNvPr>
          <p:cNvCxnSpPr>
            <a:cxnSpLocks/>
          </p:cNvCxnSpPr>
          <p:nvPr/>
        </p:nvCxnSpPr>
        <p:spPr>
          <a:xfrm flipV="1">
            <a:off x="5288902" y="31242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7DAED1-1637-076A-2FDE-EFE4BAF09CCB}"/>
              </a:ext>
            </a:extLst>
          </p:cNvPr>
          <p:cNvCxnSpPr/>
          <p:nvPr/>
        </p:nvCxnSpPr>
        <p:spPr>
          <a:xfrm flipH="1" flipV="1">
            <a:off x="5949043" y="315063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AEE0C9-EB15-057D-BDDC-2D1A8DF39FE7}"/>
              </a:ext>
            </a:extLst>
          </p:cNvPr>
          <p:cNvCxnSpPr/>
          <p:nvPr/>
        </p:nvCxnSpPr>
        <p:spPr>
          <a:xfrm flipH="1" flipV="1">
            <a:off x="6847114" y="31242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5FADE4-D378-1039-A911-394C8737E56E}"/>
              </a:ext>
            </a:extLst>
          </p:cNvPr>
          <p:cNvCxnSpPr/>
          <p:nvPr/>
        </p:nvCxnSpPr>
        <p:spPr>
          <a:xfrm flipH="1" flipV="1">
            <a:off x="7772400" y="315063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424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57400" y="4572000"/>
            <a:ext cx="838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At this point, we will either take item 3 or skip it, w3=3, v3=20</a:t>
            </a:r>
          </a:p>
          <a:p>
            <a:endParaRPr lang="en-US" sz="1400" dirty="0">
              <a:latin typeface="Lucida Sans Typewriter" pitchFamily="49" charset="0"/>
            </a:endParaRPr>
          </a:p>
          <a:p>
            <a:r>
              <a:rPr lang="en-US" sz="1400" dirty="0">
                <a:latin typeface="Lucida Sans Typewriter" pitchFamily="49" charset="0"/>
              </a:rPr>
              <a:t>P(3,1)-&gt; w3&lt;=W(1)? False. P(3,1) = P(2,1) = 10</a:t>
            </a:r>
          </a:p>
          <a:p>
            <a:r>
              <a:rPr lang="en-US" sz="1400" dirty="0">
                <a:latin typeface="Lucida Sans Typewriter" pitchFamily="49" charset="0"/>
              </a:rPr>
              <a:t>P(3,2)-&gt; w3&lt;=W(2)? False. P(3,2) = P(2,2) = 12</a:t>
            </a:r>
          </a:p>
          <a:p>
            <a:r>
              <a:rPr lang="en-US" sz="1400" dirty="0">
                <a:latin typeface="Lucida Sans Typewriter" pitchFamily="49" charset="0"/>
              </a:rPr>
              <a:t>P(3,3)-&gt; w3&lt;=W(3)? True. P(3,3) = max ( v3+P(2,0) , P(2,3) ) = max(20,22)=22</a:t>
            </a:r>
          </a:p>
          <a:p>
            <a:r>
              <a:rPr lang="en-US" sz="1400" dirty="0">
                <a:latin typeface="Lucida Sans Typewriter" pitchFamily="49" charset="0"/>
              </a:rPr>
              <a:t>P(3,4)-&gt; w3&lt;=W(4)? True. P(3,4) = max ( v3+P(2,1) , P(2,4) ) = max(30,22)=30</a:t>
            </a:r>
          </a:p>
          <a:p>
            <a:r>
              <a:rPr lang="en-US" sz="1400" dirty="0">
                <a:latin typeface="Lucida Sans Typewriter" pitchFamily="49" charset="0"/>
              </a:rPr>
              <a:t>P(3,5)-&gt; w3&lt;=W(5)? True. P(3,5) = max ( v3+P(2,2) , P(2,5) ) = max(32,22)=32</a:t>
            </a:r>
          </a:p>
          <a:p>
            <a:endParaRPr lang="en-US" sz="1400" dirty="0">
              <a:latin typeface="Lucida Sans Typewriter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33600" y="381001"/>
            <a:ext cx="518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Consider the 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3</a:t>
            </a:r>
            <a:r>
              <a:rPr lang="en-US" sz="1400" b="1" baseline="30000" dirty="0">
                <a:solidFill>
                  <a:srgbClr val="FF0000"/>
                </a:solidFill>
                <a:latin typeface="Lucida Sans Typewriter" pitchFamily="49" charset="0"/>
              </a:rPr>
              <a:t>rd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 row</a:t>
            </a:r>
          </a:p>
          <a:p>
            <a:r>
              <a:rPr lang="en-US" sz="1400" dirty="0">
                <a:latin typeface="Lucida Sans Typewriter" pitchFamily="49" charset="0"/>
              </a:rPr>
              <a:t>Our task is how much profit you can make taking 1</a:t>
            </a:r>
            <a:r>
              <a:rPr lang="en-US" sz="1400" baseline="30000" dirty="0">
                <a:latin typeface="Lucida Sans Typewriter" pitchFamily="49" charset="0"/>
              </a:rPr>
              <a:t>st</a:t>
            </a:r>
            <a:r>
              <a:rPr lang="en-US" sz="1400" dirty="0">
                <a:latin typeface="Lucida Sans Typewriter" pitchFamily="49" charset="0"/>
              </a:rPr>
              <a:t> 3 items for different knapsack capacity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7F4971B-911B-106F-4D01-4CCC080DE842}"/>
              </a:ext>
            </a:extLst>
          </p:cNvPr>
          <p:cNvGraphicFramePr>
            <a:graphicFrameLocks noGrp="1"/>
          </p:cNvGraphicFramePr>
          <p:nvPr/>
        </p:nvGraphicFramePr>
        <p:xfrm>
          <a:off x="2133601" y="1981200"/>
          <a:ext cx="609599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10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12 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EF86A11-01FB-9719-F8F3-B10CFF789769}"/>
              </a:ext>
            </a:extLst>
          </p:cNvPr>
          <p:cNvCxnSpPr>
            <a:cxnSpLocks/>
          </p:cNvCxnSpPr>
          <p:nvPr/>
        </p:nvCxnSpPr>
        <p:spPr>
          <a:xfrm flipV="1">
            <a:off x="4267200" y="27432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F44CC0-8F5A-7290-A729-9EEA2646D38B}"/>
              </a:ext>
            </a:extLst>
          </p:cNvPr>
          <p:cNvCxnSpPr/>
          <p:nvPr/>
        </p:nvCxnSpPr>
        <p:spPr>
          <a:xfrm flipH="1" flipV="1">
            <a:off x="5105400" y="278892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36670FD-5765-CA56-D701-CF5A0FBAEC8E}"/>
              </a:ext>
            </a:extLst>
          </p:cNvPr>
          <p:cNvCxnSpPr/>
          <p:nvPr/>
        </p:nvCxnSpPr>
        <p:spPr>
          <a:xfrm flipH="1" flipV="1">
            <a:off x="5943600" y="278487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D33F2F0-AC86-B850-981F-305437D416DA}"/>
              </a:ext>
            </a:extLst>
          </p:cNvPr>
          <p:cNvCxnSpPr/>
          <p:nvPr/>
        </p:nvCxnSpPr>
        <p:spPr>
          <a:xfrm flipH="1" flipV="1">
            <a:off x="6858000" y="2744444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E9DA46-B4C3-398A-3636-37D66385C8F2}"/>
              </a:ext>
            </a:extLst>
          </p:cNvPr>
          <p:cNvCxnSpPr/>
          <p:nvPr/>
        </p:nvCxnSpPr>
        <p:spPr>
          <a:xfrm flipH="1" flipV="1">
            <a:off x="7696199" y="27432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A35158-E007-2F73-784D-EF3E1911A3C1}"/>
              </a:ext>
            </a:extLst>
          </p:cNvPr>
          <p:cNvCxnSpPr/>
          <p:nvPr/>
        </p:nvCxnSpPr>
        <p:spPr>
          <a:xfrm flipH="1" flipV="1">
            <a:off x="4414157" y="31242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81AFA5-9844-0E87-F9A1-CA681D74C5C1}"/>
              </a:ext>
            </a:extLst>
          </p:cNvPr>
          <p:cNvCxnSpPr>
            <a:cxnSpLocks/>
          </p:cNvCxnSpPr>
          <p:nvPr/>
        </p:nvCxnSpPr>
        <p:spPr>
          <a:xfrm flipV="1">
            <a:off x="5288902" y="31242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7DAED1-1637-076A-2FDE-EFE4BAF09CCB}"/>
              </a:ext>
            </a:extLst>
          </p:cNvPr>
          <p:cNvCxnSpPr/>
          <p:nvPr/>
        </p:nvCxnSpPr>
        <p:spPr>
          <a:xfrm flipH="1" flipV="1">
            <a:off x="5949043" y="315063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AEE0C9-EB15-057D-BDDC-2D1A8DF39FE7}"/>
              </a:ext>
            </a:extLst>
          </p:cNvPr>
          <p:cNvCxnSpPr/>
          <p:nvPr/>
        </p:nvCxnSpPr>
        <p:spPr>
          <a:xfrm flipH="1" flipV="1">
            <a:off x="6847114" y="31242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5FADE4-D378-1039-A911-394C8737E56E}"/>
              </a:ext>
            </a:extLst>
          </p:cNvPr>
          <p:cNvCxnSpPr/>
          <p:nvPr/>
        </p:nvCxnSpPr>
        <p:spPr>
          <a:xfrm flipH="1" flipV="1">
            <a:off x="7772400" y="315063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1B0E242-F612-177C-64A1-329E735F546B}"/>
              </a:ext>
            </a:extLst>
          </p:cNvPr>
          <p:cNvCxnSpPr>
            <a:cxnSpLocks/>
          </p:cNvCxnSpPr>
          <p:nvPr/>
        </p:nvCxnSpPr>
        <p:spPr>
          <a:xfrm flipV="1">
            <a:off x="4298302" y="34554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7478307-E025-D6A1-3D7E-530EAE512FB1}"/>
              </a:ext>
            </a:extLst>
          </p:cNvPr>
          <p:cNvCxnSpPr>
            <a:cxnSpLocks/>
          </p:cNvCxnSpPr>
          <p:nvPr/>
        </p:nvCxnSpPr>
        <p:spPr>
          <a:xfrm flipV="1">
            <a:off x="5288902" y="34554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F1885E-9876-D1C5-3867-13EF1676575E}"/>
              </a:ext>
            </a:extLst>
          </p:cNvPr>
          <p:cNvCxnSpPr>
            <a:cxnSpLocks/>
          </p:cNvCxnSpPr>
          <p:nvPr/>
        </p:nvCxnSpPr>
        <p:spPr>
          <a:xfrm flipV="1">
            <a:off x="6099110" y="34554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8578BED-C8C9-28C1-F94A-E47EF180407F}"/>
              </a:ext>
            </a:extLst>
          </p:cNvPr>
          <p:cNvCxnSpPr/>
          <p:nvPr/>
        </p:nvCxnSpPr>
        <p:spPr>
          <a:xfrm flipH="1" flipV="1">
            <a:off x="6862665" y="348996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E2413B-38D1-D618-340B-FD16A1B544F4}"/>
              </a:ext>
            </a:extLst>
          </p:cNvPr>
          <p:cNvCxnSpPr/>
          <p:nvPr/>
        </p:nvCxnSpPr>
        <p:spPr>
          <a:xfrm flipH="1" flipV="1">
            <a:off x="7696199" y="350271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924800" y="228600"/>
          <a:ext cx="220980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83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2104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57400" y="4572000"/>
            <a:ext cx="838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At this point, we will either take item 3 or skip it, w4=2, v4=15</a:t>
            </a:r>
          </a:p>
          <a:p>
            <a:endParaRPr lang="en-US" sz="1400" dirty="0">
              <a:latin typeface="Lucida Sans Typewriter" pitchFamily="49" charset="0"/>
            </a:endParaRPr>
          </a:p>
          <a:p>
            <a:r>
              <a:rPr lang="en-US" sz="1400" dirty="0">
                <a:latin typeface="Lucida Sans Typewriter" pitchFamily="49" charset="0"/>
              </a:rPr>
              <a:t>P(4,1)-&gt; w4&lt;=W(1)? False. P(4,1) = P(3,1) = 10</a:t>
            </a:r>
          </a:p>
          <a:p>
            <a:r>
              <a:rPr lang="en-US" sz="1400" dirty="0">
                <a:latin typeface="Lucida Sans Typewriter" pitchFamily="49" charset="0"/>
              </a:rPr>
              <a:t>P(4,2)-&gt; w4&lt;=W(2)? True. P(4,3) = max ( v4+P(3,0) , P(3,2) ) = max(15,12)=15</a:t>
            </a:r>
          </a:p>
          <a:p>
            <a:r>
              <a:rPr lang="en-US" sz="1400" dirty="0">
                <a:latin typeface="Lucida Sans Typewriter" pitchFamily="49" charset="0"/>
              </a:rPr>
              <a:t>P(4,3)-&gt; w4&lt;=W(3)? True. P(4,3) = max ( v4+P(3,1) , P(3,3) ) = max(25,22)=25</a:t>
            </a:r>
          </a:p>
          <a:p>
            <a:r>
              <a:rPr lang="en-US" sz="1400" dirty="0">
                <a:latin typeface="Lucida Sans Typewriter" pitchFamily="49" charset="0"/>
              </a:rPr>
              <a:t>P(4,4)-&gt; w4&lt;=W(4)? True. P(4,4) = max ( v4+P(3,2) , P(3,4) ) = max(27,30)=30</a:t>
            </a:r>
          </a:p>
          <a:p>
            <a:r>
              <a:rPr lang="en-US" sz="1400" dirty="0">
                <a:latin typeface="Lucida Sans Typewriter" pitchFamily="49" charset="0"/>
              </a:rPr>
              <a:t>P(4,5)-&gt; w4&lt;=W(5)? True. P(4,5) = max ( v4+P(3,3) , P(3,5) ) = max(37,32)=37</a:t>
            </a:r>
          </a:p>
          <a:p>
            <a:endParaRPr lang="en-US" sz="1400" dirty="0">
              <a:latin typeface="Lucida Sans Typewriter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33600" y="381001"/>
            <a:ext cx="518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itchFamily="49" charset="0"/>
              </a:rPr>
              <a:t>Consider the 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4</a:t>
            </a:r>
            <a:r>
              <a:rPr lang="en-US" sz="1400" b="1" baseline="30000" dirty="0">
                <a:solidFill>
                  <a:srgbClr val="FF0000"/>
                </a:solidFill>
                <a:latin typeface="Lucida Sans Typewriter" pitchFamily="49" charset="0"/>
              </a:rPr>
              <a:t>th</a:t>
            </a:r>
            <a:r>
              <a:rPr lang="en-US" sz="1400" b="1" dirty="0">
                <a:solidFill>
                  <a:srgbClr val="FF0000"/>
                </a:solidFill>
                <a:latin typeface="Lucida Sans Typewriter" pitchFamily="49" charset="0"/>
              </a:rPr>
              <a:t> row</a:t>
            </a:r>
          </a:p>
          <a:p>
            <a:r>
              <a:rPr lang="en-US" sz="1400" dirty="0">
                <a:latin typeface="Lucida Sans Typewriter" pitchFamily="49" charset="0"/>
              </a:rPr>
              <a:t>Our task is how much profit you can make taking 1</a:t>
            </a:r>
            <a:r>
              <a:rPr lang="en-US" sz="1400" baseline="30000" dirty="0">
                <a:latin typeface="Lucida Sans Typewriter" pitchFamily="49" charset="0"/>
              </a:rPr>
              <a:t>st</a:t>
            </a:r>
            <a:r>
              <a:rPr lang="en-US" sz="1400" dirty="0">
                <a:latin typeface="Lucida Sans Typewriter" pitchFamily="49" charset="0"/>
              </a:rPr>
              <a:t> 4 items for different knapsack capacity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7F4971B-911B-106F-4D01-4CCC080DE842}"/>
              </a:ext>
            </a:extLst>
          </p:cNvPr>
          <p:cNvGraphicFramePr>
            <a:graphicFrameLocks noGrp="1"/>
          </p:cNvGraphicFramePr>
          <p:nvPr/>
        </p:nvGraphicFramePr>
        <p:xfrm>
          <a:off x="2133601" y="1981200"/>
          <a:ext cx="609599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10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12 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EF86A11-01FB-9719-F8F3-B10CFF789769}"/>
              </a:ext>
            </a:extLst>
          </p:cNvPr>
          <p:cNvCxnSpPr>
            <a:cxnSpLocks/>
          </p:cNvCxnSpPr>
          <p:nvPr/>
        </p:nvCxnSpPr>
        <p:spPr>
          <a:xfrm flipV="1">
            <a:off x="4267200" y="27432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F44CC0-8F5A-7290-A729-9EEA2646D38B}"/>
              </a:ext>
            </a:extLst>
          </p:cNvPr>
          <p:cNvCxnSpPr/>
          <p:nvPr/>
        </p:nvCxnSpPr>
        <p:spPr>
          <a:xfrm flipH="1" flipV="1">
            <a:off x="5105400" y="278892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36670FD-5765-CA56-D701-CF5A0FBAEC8E}"/>
              </a:ext>
            </a:extLst>
          </p:cNvPr>
          <p:cNvCxnSpPr/>
          <p:nvPr/>
        </p:nvCxnSpPr>
        <p:spPr>
          <a:xfrm flipH="1" flipV="1">
            <a:off x="5943600" y="278487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D33F2F0-AC86-B850-981F-305437D416DA}"/>
              </a:ext>
            </a:extLst>
          </p:cNvPr>
          <p:cNvCxnSpPr/>
          <p:nvPr/>
        </p:nvCxnSpPr>
        <p:spPr>
          <a:xfrm flipH="1" flipV="1">
            <a:off x="6858000" y="2744444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E9DA46-B4C3-398A-3636-37D66385C8F2}"/>
              </a:ext>
            </a:extLst>
          </p:cNvPr>
          <p:cNvCxnSpPr/>
          <p:nvPr/>
        </p:nvCxnSpPr>
        <p:spPr>
          <a:xfrm flipH="1" flipV="1">
            <a:off x="7696199" y="27432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A35158-E007-2F73-784D-EF3E1911A3C1}"/>
              </a:ext>
            </a:extLst>
          </p:cNvPr>
          <p:cNvCxnSpPr/>
          <p:nvPr/>
        </p:nvCxnSpPr>
        <p:spPr>
          <a:xfrm flipH="1" flipV="1">
            <a:off x="4414157" y="31242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81AFA5-9844-0E87-F9A1-CA681D74C5C1}"/>
              </a:ext>
            </a:extLst>
          </p:cNvPr>
          <p:cNvCxnSpPr>
            <a:cxnSpLocks/>
          </p:cNvCxnSpPr>
          <p:nvPr/>
        </p:nvCxnSpPr>
        <p:spPr>
          <a:xfrm flipV="1">
            <a:off x="5288902" y="31242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7DAED1-1637-076A-2FDE-EFE4BAF09CCB}"/>
              </a:ext>
            </a:extLst>
          </p:cNvPr>
          <p:cNvCxnSpPr/>
          <p:nvPr/>
        </p:nvCxnSpPr>
        <p:spPr>
          <a:xfrm flipH="1" flipV="1">
            <a:off x="5949043" y="315063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AEE0C9-EB15-057D-BDDC-2D1A8DF39FE7}"/>
              </a:ext>
            </a:extLst>
          </p:cNvPr>
          <p:cNvCxnSpPr/>
          <p:nvPr/>
        </p:nvCxnSpPr>
        <p:spPr>
          <a:xfrm flipH="1" flipV="1">
            <a:off x="6847114" y="31242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5FADE4-D378-1039-A911-394C8737E56E}"/>
              </a:ext>
            </a:extLst>
          </p:cNvPr>
          <p:cNvCxnSpPr/>
          <p:nvPr/>
        </p:nvCxnSpPr>
        <p:spPr>
          <a:xfrm flipH="1" flipV="1">
            <a:off x="7772400" y="315063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1B0E242-F612-177C-64A1-329E735F546B}"/>
              </a:ext>
            </a:extLst>
          </p:cNvPr>
          <p:cNvCxnSpPr>
            <a:cxnSpLocks/>
          </p:cNvCxnSpPr>
          <p:nvPr/>
        </p:nvCxnSpPr>
        <p:spPr>
          <a:xfrm flipV="1">
            <a:off x="4298302" y="34554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7478307-E025-D6A1-3D7E-530EAE512FB1}"/>
              </a:ext>
            </a:extLst>
          </p:cNvPr>
          <p:cNvCxnSpPr>
            <a:cxnSpLocks/>
          </p:cNvCxnSpPr>
          <p:nvPr/>
        </p:nvCxnSpPr>
        <p:spPr>
          <a:xfrm flipV="1">
            <a:off x="5288902" y="34554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F1885E-9876-D1C5-3867-13EF1676575E}"/>
              </a:ext>
            </a:extLst>
          </p:cNvPr>
          <p:cNvCxnSpPr>
            <a:cxnSpLocks/>
          </p:cNvCxnSpPr>
          <p:nvPr/>
        </p:nvCxnSpPr>
        <p:spPr>
          <a:xfrm flipV="1">
            <a:off x="6099110" y="34554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8578BED-C8C9-28C1-F94A-E47EF180407F}"/>
              </a:ext>
            </a:extLst>
          </p:cNvPr>
          <p:cNvCxnSpPr/>
          <p:nvPr/>
        </p:nvCxnSpPr>
        <p:spPr>
          <a:xfrm flipH="1" flipV="1">
            <a:off x="6862665" y="348996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E2413B-38D1-D618-340B-FD16A1B544F4}"/>
              </a:ext>
            </a:extLst>
          </p:cNvPr>
          <p:cNvCxnSpPr/>
          <p:nvPr/>
        </p:nvCxnSpPr>
        <p:spPr>
          <a:xfrm flipH="1" flipV="1">
            <a:off x="7696199" y="350271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24800" y="228600"/>
          <a:ext cx="220980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83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D1CC3C6-C6E4-2485-691E-62797744E8EE}"/>
              </a:ext>
            </a:extLst>
          </p:cNvPr>
          <p:cNvCxnSpPr>
            <a:cxnSpLocks/>
          </p:cNvCxnSpPr>
          <p:nvPr/>
        </p:nvCxnSpPr>
        <p:spPr>
          <a:xfrm flipV="1">
            <a:off x="4414157" y="390144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5983A4-7798-2D03-F749-B0BF7EE8B8C8}"/>
              </a:ext>
            </a:extLst>
          </p:cNvPr>
          <p:cNvCxnSpPr>
            <a:cxnSpLocks/>
          </p:cNvCxnSpPr>
          <p:nvPr/>
        </p:nvCxnSpPr>
        <p:spPr>
          <a:xfrm flipV="1">
            <a:off x="7010400" y="3807512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536A90E-316E-C210-997B-16962B5B02C7}"/>
              </a:ext>
            </a:extLst>
          </p:cNvPr>
          <p:cNvCxnSpPr/>
          <p:nvPr/>
        </p:nvCxnSpPr>
        <p:spPr>
          <a:xfrm flipH="1" flipV="1">
            <a:off x="7820608" y="38684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6D0909A-2C72-B991-5680-B16B2F42CF5A}"/>
              </a:ext>
            </a:extLst>
          </p:cNvPr>
          <p:cNvCxnSpPr/>
          <p:nvPr/>
        </p:nvCxnSpPr>
        <p:spPr>
          <a:xfrm flipH="1" flipV="1">
            <a:off x="5990642" y="38684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AB71014-ED42-E0B4-283A-D7899070E291}"/>
              </a:ext>
            </a:extLst>
          </p:cNvPr>
          <p:cNvCxnSpPr/>
          <p:nvPr/>
        </p:nvCxnSpPr>
        <p:spPr>
          <a:xfrm flipH="1" flipV="1">
            <a:off x="5136502" y="38684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246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B3C21-2A23-46B5-5DAA-E798C62A5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Backtracking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FF495-7A6E-8F90-C448-144B532DB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>
                <a:latin typeface="Lucida Sans Typewriter" panose="020B0509030504030204" pitchFamily="49" charset="0"/>
              </a:rPr>
              <a:t>Now, we will find out which items we have taken for maximum profit by backtracking</a:t>
            </a:r>
            <a:endParaRPr lang="en-US" sz="2000" dirty="0">
              <a:latin typeface="Lucida Sans Typewriter" panose="020B05090305040302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10607E-F777-DE82-2E76-B165E1CBAB79}"/>
              </a:ext>
            </a:extLst>
          </p:cNvPr>
          <p:cNvGraphicFramePr>
            <a:graphicFrameLocks noGrp="1"/>
          </p:cNvGraphicFramePr>
          <p:nvPr/>
        </p:nvGraphicFramePr>
        <p:xfrm>
          <a:off x="2743201" y="2514600"/>
          <a:ext cx="609599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10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12 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899CBF-B50A-6581-4267-CAF1BEBAA648}"/>
              </a:ext>
            </a:extLst>
          </p:cNvPr>
          <p:cNvCxnSpPr>
            <a:cxnSpLocks/>
          </p:cNvCxnSpPr>
          <p:nvPr/>
        </p:nvCxnSpPr>
        <p:spPr>
          <a:xfrm flipV="1">
            <a:off x="4876800" y="32766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5BB690-3FF3-56AA-A037-09359B5BA93D}"/>
              </a:ext>
            </a:extLst>
          </p:cNvPr>
          <p:cNvCxnSpPr/>
          <p:nvPr/>
        </p:nvCxnSpPr>
        <p:spPr>
          <a:xfrm flipH="1" flipV="1">
            <a:off x="5715000" y="332232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6E71F4-C2F1-2019-A2F2-C909F35CB1B0}"/>
              </a:ext>
            </a:extLst>
          </p:cNvPr>
          <p:cNvCxnSpPr/>
          <p:nvPr/>
        </p:nvCxnSpPr>
        <p:spPr>
          <a:xfrm flipH="1" flipV="1">
            <a:off x="6553200" y="331827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CBB909D-EDE8-AFEB-6591-4EF34B349556}"/>
              </a:ext>
            </a:extLst>
          </p:cNvPr>
          <p:cNvCxnSpPr/>
          <p:nvPr/>
        </p:nvCxnSpPr>
        <p:spPr>
          <a:xfrm flipH="1" flipV="1">
            <a:off x="7467600" y="3277844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620C75-A9C4-3D71-C87A-2379C26BA471}"/>
              </a:ext>
            </a:extLst>
          </p:cNvPr>
          <p:cNvCxnSpPr/>
          <p:nvPr/>
        </p:nvCxnSpPr>
        <p:spPr>
          <a:xfrm flipH="1" flipV="1">
            <a:off x="8305799" y="32766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3C8DDF-F9F9-53E4-B0A8-ED0F45446AD4}"/>
              </a:ext>
            </a:extLst>
          </p:cNvPr>
          <p:cNvCxnSpPr/>
          <p:nvPr/>
        </p:nvCxnSpPr>
        <p:spPr>
          <a:xfrm flipH="1" flipV="1">
            <a:off x="5023757" y="36576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650199-4BC0-B44B-8B35-CEA6A14DFB88}"/>
              </a:ext>
            </a:extLst>
          </p:cNvPr>
          <p:cNvCxnSpPr>
            <a:cxnSpLocks/>
          </p:cNvCxnSpPr>
          <p:nvPr/>
        </p:nvCxnSpPr>
        <p:spPr>
          <a:xfrm flipV="1">
            <a:off x="5898502" y="36576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A1152C-192C-A087-90A6-C3E88CF0BB9B}"/>
              </a:ext>
            </a:extLst>
          </p:cNvPr>
          <p:cNvCxnSpPr/>
          <p:nvPr/>
        </p:nvCxnSpPr>
        <p:spPr>
          <a:xfrm flipH="1" flipV="1">
            <a:off x="6558643" y="368403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2635AC-11B9-3E83-AB79-D2EAA42C95B4}"/>
              </a:ext>
            </a:extLst>
          </p:cNvPr>
          <p:cNvCxnSpPr/>
          <p:nvPr/>
        </p:nvCxnSpPr>
        <p:spPr>
          <a:xfrm flipH="1" flipV="1">
            <a:off x="7456714" y="36576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131605-D5DD-074C-B496-1A89A3D71F13}"/>
              </a:ext>
            </a:extLst>
          </p:cNvPr>
          <p:cNvCxnSpPr/>
          <p:nvPr/>
        </p:nvCxnSpPr>
        <p:spPr>
          <a:xfrm flipH="1" flipV="1">
            <a:off x="8382000" y="368403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15B7AE-9946-938D-AE5E-DAF781B7E7A8}"/>
              </a:ext>
            </a:extLst>
          </p:cNvPr>
          <p:cNvCxnSpPr>
            <a:cxnSpLocks/>
          </p:cNvCxnSpPr>
          <p:nvPr/>
        </p:nvCxnSpPr>
        <p:spPr>
          <a:xfrm flipV="1">
            <a:off x="4907902" y="39888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3AB609F-A2A6-4614-8B78-7F3356535D9F}"/>
              </a:ext>
            </a:extLst>
          </p:cNvPr>
          <p:cNvCxnSpPr>
            <a:cxnSpLocks/>
          </p:cNvCxnSpPr>
          <p:nvPr/>
        </p:nvCxnSpPr>
        <p:spPr>
          <a:xfrm flipV="1">
            <a:off x="5898502" y="39888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09CE4B-E95C-AE40-9883-9CE52D97F056}"/>
              </a:ext>
            </a:extLst>
          </p:cNvPr>
          <p:cNvCxnSpPr>
            <a:cxnSpLocks/>
          </p:cNvCxnSpPr>
          <p:nvPr/>
        </p:nvCxnSpPr>
        <p:spPr>
          <a:xfrm flipV="1">
            <a:off x="6708710" y="39888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18849F-0DD3-D19A-5C4C-735B5F192070}"/>
              </a:ext>
            </a:extLst>
          </p:cNvPr>
          <p:cNvCxnSpPr/>
          <p:nvPr/>
        </p:nvCxnSpPr>
        <p:spPr>
          <a:xfrm flipH="1" flipV="1">
            <a:off x="7472265" y="402336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A7A596-3254-ECAC-3E31-6F9A2BF5ED8D}"/>
              </a:ext>
            </a:extLst>
          </p:cNvPr>
          <p:cNvCxnSpPr/>
          <p:nvPr/>
        </p:nvCxnSpPr>
        <p:spPr>
          <a:xfrm flipH="1" flipV="1">
            <a:off x="8305799" y="403611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4DB491-DA93-0DE5-0A8F-79A4148C8FCF}"/>
              </a:ext>
            </a:extLst>
          </p:cNvPr>
          <p:cNvCxnSpPr>
            <a:cxnSpLocks/>
          </p:cNvCxnSpPr>
          <p:nvPr/>
        </p:nvCxnSpPr>
        <p:spPr>
          <a:xfrm flipV="1">
            <a:off x="5023757" y="443484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B078C9-C7AF-3773-29A6-2DB1C56DC266}"/>
              </a:ext>
            </a:extLst>
          </p:cNvPr>
          <p:cNvCxnSpPr>
            <a:cxnSpLocks/>
          </p:cNvCxnSpPr>
          <p:nvPr/>
        </p:nvCxnSpPr>
        <p:spPr>
          <a:xfrm flipV="1">
            <a:off x="7620000" y="4340912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E09ABD-9644-F6CC-947B-EEDF879407AE}"/>
              </a:ext>
            </a:extLst>
          </p:cNvPr>
          <p:cNvCxnSpPr/>
          <p:nvPr/>
        </p:nvCxnSpPr>
        <p:spPr>
          <a:xfrm flipH="1" flipV="1">
            <a:off x="8430208" y="44018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8062E2-96A2-88E1-47E0-DC2D04ACA605}"/>
              </a:ext>
            </a:extLst>
          </p:cNvPr>
          <p:cNvCxnSpPr/>
          <p:nvPr/>
        </p:nvCxnSpPr>
        <p:spPr>
          <a:xfrm flipH="1" flipV="1">
            <a:off x="6600242" y="44018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2D8053C-013C-1C60-6182-031B0FD683B1}"/>
              </a:ext>
            </a:extLst>
          </p:cNvPr>
          <p:cNvCxnSpPr/>
          <p:nvPr/>
        </p:nvCxnSpPr>
        <p:spPr>
          <a:xfrm flipH="1" flipV="1">
            <a:off x="5746102" y="44018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61D99E78-6A16-FC6B-BB6F-097040938602}"/>
              </a:ext>
            </a:extLst>
          </p:cNvPr>
          <p:cNvSpPr/>
          <p:nvPr/>
        </p:nvSpPr>
        <p:spPr>
          <a:xfrm>
            <a:off x="7924801" y="4293638"/>
            <a:ext cx="914395" cy="50198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8B4691-EC1C-527A-F59B-5AFB3CF8E8DE}"/>
              </a:ext>
            </a:extLst>
          </p:cNvPr>
          <p:cNvSpPr txBox="1"/>
          <p:nvPr/>
        </p:nvSpPr>
        <p:spPr>
          <a:xfrm>
            <a:off x="5638800" y="518160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ucida Sans Typewriter" panose="020B0509030504030204" pitchFamily="49" charset="0"/>
              </a:rPr>
              <a:t>This is the maximum profit</a:t>
            </a:r>
            <a:endParaRPr lang="en-US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035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B3C21-2A23-46B5-5DAA-E798C62A5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242602"/>
            <a:ext cx="8229600" cy="603376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Lucida Sans Typewriter" panose="020B0509030504030204" pitchFamily="49" charset="0"/>
              </a:rPr>
              <a:t>Backtracking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FF495-7A6E-8F90-C448-144B532DB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845979"/>
            <a:ext cx="8229600" cy="4525963"/>
          </a:xfrm>
        </p:spPr>
        <p:txBody>
          <a:bodyPr>
            <a:normAutofit/>
          </a:bodyPr>
          <a:lstStyle/>
          <a:p>
            <a:r>
              <a:rPr lang="en-GB" sz="1800" dirty="0">
                <a:latin typeface="Lucida Sans Typewriter" panose="020B0509030504030204" pitchFamily="49" charset="0"/>
              </a:rPr>
              <a:t>How will we backtrack?</a:t>
            </a:r>
          </a:p>
          <a:p>
            <a:r>
              <a:rPr lang="en-GB" sz="1800" dirty="0">
                <a:latin typeface="Lucida Sans Typewriter" panose="020B0509030504030204" pitchFamily="49" charset="0"/>
              </a:rPr>
              <a:t>Start from the last cell</a:t>
            </a:r>
          </a:p>
          <a:p>
            <a:r>
              <a:rPr lang="en-GB" sz="1800" dirty="0">
                <a:latin typeface="Lucida Sans Typewriter" panose="020B0509030504030204" pitchFamily="49" charset="0"/>
              </a:rPr>
              <a:t>If the current cell arrow is diagonal-&gt;we have take the item</a:t>
            </a:r>
          </a:p>
          <a:p>
            <a:r>
              <a:rPr lang="en-GB" sz="1800" dirty="0">
                <a:latin typeface="Lucida Sans Typewriter" panose="020B0509030504030204" pitchFamily="49" charset="0"/>
              </a:rPr>
              <a:t>If current cell arrow is up-&gt;we skipped the item</a:t>
            </a:r>
            <a:endParaRPr lang="en-US" sz="1800" dirty="0">
              <a:latin typeface="Lucida Sans Typewriter" panose="020B05090305040302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10607E-F777-DE82-2E76-B165E1CBAB79}"/>
              </a:ext>
            </a:extLst>
          </p:cNvPr>
          <p:cNvGraphicFramePr>
            <a:graphicFrameLocks noGrp="1"/>
          </p:cNvGraphicFramePr>
          <p:nvPr/>
        </p:nvGraphicFramePr>
        <p:xfrm>
          <a:off x="2743201" y="2514600"/>
          <a:ext cx="609599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10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12 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899CBF-B50A-6581-4267-CAF1BEBAA648}"/>
              </a:ext>
            </a:extLst>
          </p:cNvPr>
          <p:cNvCxnSpPr>
            <a:cxnSpLocks/>
          </p:cNvCxnSpPr>
          <p:nvPr/>
        </p:nvCxnSpPr>
        <p:spPr>
          <a:xfrm flipV="1">
            <a:off x="4876800" y="32766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5BB690-3FF3-56AA-A037-09359B5BA93D}"/>
              </a:ext>
            </a:extLst>
          </p:cNvPr>
          <p:cNvCxnSpPr/>
          <p:nvPr/>
        </p:nvCxnSpPr>
        <p:spPr>
          <a:xfrm flipH="1" flipV="1">
            <a:off x="5715000" y="332232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6E71F4-C2F1-2019-A2F2-C909F35CB1B0}"/>
              </a:ext>
            </a:extLst>
          </p:cNvPr>
          <p:cNvCxnSpPr/>
          <p:nvPr/>
        </p:nvCxnSpPr>
        <p:spPr>
          <a:xfrm flipH="1" flipV="1">
            <a:off x="6553200" y="331827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CBB909D-EDE8-AFEB-6591-4EF34B349556}"/>
              </a:ext>
            </a:extLst>
          </p:cNvPr>
          <p:cNvCxnSpPr/>
          <p:nvPr/>
        </p:nvCxnSpPr>
        <p:spPr>
          <a:xfrm flipH="1" flipV="1">
            <a:off x="7467600" y="3277844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620C75-A9C4-3D71-C87A-2379C26BA471}"/>
              </a:ext>
            </a:extLst>
          </p:cNvPr>
          <p:cNvCxnSpPr/>
          <p:nvPr/>
        </p:nvCxnSpPr>
        <p:spPr>
          <a:xfrm flipH="1" flipV="1">
            <a:off x="8305799" y="32766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3C8DDF-F9F9-53E4-B0A8-ED0F45446AD4}"/>
              </a:ext>
            </a:extLst>
          </p:cNvPr>
          <p:cNvCxnSpPr/>
          <p:nvPr/>
        </p:nvCxnSpPr>
        <p:spPr>
          <a:xfrm flipH="1" flipV="1">
            <a:off x="5023757" y="36576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650199-4BC0-B44B-8B35-CEA6A14DFB88}"/>
              </a:ext>
            </a:extLst>
          </p:cNvPr>
          <p:cNvCxnSpPr>
            <a:cxnSpLocks/>
          </p:cNvCxnSpPr>
          <p:nvPr/>
        </p:nvCxnSpPr>
        <p:spPr>
          <a:xfrm flipV="1">
            <a:off x="5898502" y="36576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A1152C-192C-A087-90A6-C3E88CF0BB9B}"/>
              </a:ext>
            </a:extLst>
          </p:cNvPr>
          <p:cNvCxnSpPr/>
          <p:nvPr/>
        </p:nvCxnSpPr>
        <p:spPr>
          <a:xfrm flipH="1" flipV="1">
            <a:off x="6558643" y="368403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2635AC-11B9-3E83-AB79-D2EAA42C95B4}"/>
              </a:ext>
            </a:extLst>
          </p:cNvPr>
          <p:cNvCxnSpPr/>
          <p:nvPr/>
        </p:nvCxnSpPr>
        <p:spPr>
          <a:xfrm flipH="1" flipV="1">
            <a:off x="7456714" y="36576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131605-D5DD-074C-B496-1A89A3D71F13}"/>
              </a:ext>
            </a:extLst>
          </p:cNvPr>
          <p:cNvCxnSpPr/>
          <p:nvPr/>
        </p:nvCxnSpPr>
        <p:spPr>
          <a:xfrm flipH="1" flipV="1">
            <a:off x="8382000" y="368403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15B7AE-9946-938D-AE5E-DAF781B7E7A8}"/>
              </a:ext>
            </a:extLst>
          </p:cNvPr>
          <p:cNvCxnSpPr>
            <a:cxnSpLocks/>
          </p:cNvCxnSpPr>
          <p:nvPr/>
        </p:nvCxnSpPr>
        <p:spPr>
          <a:xfrm flipV="1">
            <a:off x="4907902" y="39888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3AB609F-A2A6-4614-8B78-7F3356535D9F}"/>
              </a:ext>
            </a:extLst>
          </p:cNvPr>
          <p:cNvCxnSpPr>
            <a:cxnSpLocks/>
          </p:cNvCxnSpPr>
          <p:nvPr/>
        </p:nvCxnSpPr>
        <p:spPr>
          <a:xfrm flipV="1">
            <a:off x="5898502" y="39888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09CE4B-E95C-AE40-9883-9CE52D97F056}"/>
              </a:ext>
            </a:extLst>
          </p:cNvPr>
          <p:cNvCxnSpPr>
            <a:cxnSpLocks/>
          </p:cNvCxnSpPr>
          <p:nvPr/>
        </p:nvCxnSpPr>
        <p:spPr>
          <a:xfrm flipV="1">
            <a:off x="6708710" y="39888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18849F-0DD3-D19A-5C4C-735B5F192070}"/>
              </a:ext>
            </a:extLst>
          </p:cNvPr>
          <p:cNvCxnSpPr/>
          <p:nvPr/>
        </p:nvCxnSpPr>
        <p:spPr>
          <a:xfrm flipH="1" flipV="1">
            <a:off x="7472265" y="402336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A7A596-3254-ECAC-3E31-6F9A2BF5ED8D}"/>
              </a:ext>
            </a:extLst>
          </p:cNvPr>
          <p:cNvCxnSpPr/>
          <p:nvPr/>
        </p:nvCxnSpPr>
        <p:spPr>
          <a:xfrm flipH="1" flipV="1">
            <a:off x="8305799" y="403611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4DB491-DA93-0DE5-0A8F-79A4148C8FCF}"/>
              </a:ext>
            </a:extLst>
          </p:cNvPr>
          <p:cNvCxnSpPr>
            <a:cxnSpLocks/>
          </p:cNvCxnSpPr>
          <p:nvPr/>
        </p:nvCxnSpPr>
        <p:spPr>
          <a:xfrm flipV="1">
            <a:off x="5023757" y="443484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B078C9-C7AF-3773-29A6-2DB1C56DC266}"/>
              </a:ext>
            </a:extLst>
          </p:cNvPr>
          <p:cNvCxnSpPr>
            <a:cxnSpLocks/>
          </p:cNvCxnSpPr>
          <p:nvPr/>
        </p:nvCxnSpPr>
        <p:spPr>
          <a:xfrm flipV="1">
            <a:off x="7620000" y="4340912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E09ABD-9644-F6CC-947B-EEDF879407AE}"/>
              </a:ext>
            </a:extLst>
          </p:cNvPr>
          <p:cNvCxnSpPr/>
          <p:nvPr/>
        </p:nvCxnSpPr>
        <p:spPr>
          <a:xfrm flipH="1" flipV="1">
            <a:off x="8430208" y="44018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8062E2-96A2-88E1-47E0-DC2D04ACA605}"/>
              </a:ext>
            </a:extLst>
          </p:cNvPr>
          <p:cNvCxnSpPr/>
          <p:nvPr/>
        </p:nvCxnSpPr>
        <p:spPr>
          <a:xfrm flipH="1" flipV="1">
            <a:off x="6600242" y="44018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2D8053C-013C-1C60-6182-031B0FD683B1}"/>
              </a:ext>
            </a:extLst>
          </p:cNvPr>
          <p:cNvCxnSpPr/>
          <p:nvPr/>
        </p:nvCxnSpPr>
        <p:spPr>
          <a:xfrm flipH="1" flipV="1">
            <a:off x="5746102" y="44018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61D99E78-6A16-FC6B-BB6F-097040938602}"/>
              </a:ext>
            </a:extLst>
          </p:cNvPr>
          <p:cNvSpPr/>
          <p:nvPr/>
        </p:nvSpPr>
        <p:spPr>
          <a:xfrm>
            <a:off x="7924801" y="4293638"/>
            <a:ext cx="914395" cy="50198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8B4691-EC1C-527A-F59B-5AFB3CF8E8DE}"/>
              </a:ext>
            </a:extLst>
          </p:cNvPr>
          <p:cNvSpPr txBox="1"/>
          <p:nvPr/>
        </p:nvSpPr>
        <p:spPr>
          <a:xfrm>
            <a:off x="5638800" y="518160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ucida Sans Typewriter" panose="020B0509030504030204" pitchFamily="49" charset="0"/>
              </a:rPr>
              <a:t>This is the maximum profit</a:t>
            </a:r>
            <a:endParaRPr lang="en-US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824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B3C21-2A23-46B5-5DAA-E798C62A5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242602"/>
            <a:ext cx="8229600" cy="603376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Lucida Sans Typewriter" panose="020B0509030504030204" pitchFamily="49" charset="0"/>
              </a:rPr>
              <a:t>Backtracking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FF495-7A6E-8F90-C448-144B532DB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845979"/>
            <a:ext cx="8229600" cy="4525963"/>
          </a:xfrm>
        </p:spPr>
        <p:txBody>
          <a:bodyPr>
            <a:normAutofit/>
          </a:bodyPr>
          <a:lstStyle/>
          <a:p>
            <a:r>
              <a:rPr lang="en-GB" sz="1800" dirty="0">
                <a:latin typeface="Lucida Sans Typewriter" panose="020B0509030504030204" pitchFamily="49" charset="0"/>
              </a:rPr>
              <a:t>Current cell arrow is diagonal, add item 4</a:t>
            </a:r>
            <a:endParaRPr lang="en-US" sz="1800" dirty="0">
              <a:latin typeface="Lucida Sans Typewriter" panose="020B05090305040302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10607E-F777-DE82-2E76-B165E1CBAB79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2514600"/>
          <a:ext cx="67818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99465517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Lucida Sans Typewriter" pitchFamily="49" charset="0"/>
                        </a:rPr>
                        <a:t>w1=2,v1=12</a:t>
                      </a:r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Lucida Sans Typewriter" pitchFamily="49" charset="0"/>
                        </a:rPr>
                        <a:t>w2=1,v2=10</a:t>
                      </a:r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10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12 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Lucida Sans Typewriter" pitchFamily="49" charset="0"/>
                        </a:rPr>
                        <a:t>w3=3,v3=20</a:t>
                      </a:r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Lucida Sans Typewriter" pitchFamily="49" charset="0"/>
                        </a:rPr>
                        <a:t>w4=2,v4=15</a:t>
                      </a:r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899CBF-B50A-6581-4267-CAF1BEBAA648}"/>
              </a:ext>
            </a:extLst>
          </p:cNvPr>
          <p:cNvCxnSpPr>
            <a:cxnSpLocks/>
          </p:cNvCxnSpPr>
          <p:nvPr/>
        </p:nvCxnSpPr>
        <p:spPr>
          <a:xfrm flipV="1">
            <a:off x="5359659" y="32766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5BB690-3FF3-56AA-A037-09359B5BA93D}"/>
              </a:ext>
            </a:extLst>
          </p:cNvPr>
          <p:cNvCxnSpPr/>
          <p:nvPr/>
        </p:nvCxnSpPr>
        <p:spPr>
          <a:xfrm flipH="1" flipV="1">
            <a:off x="5715000" y="332232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6E71F4-C2F1-2019-A2F2-C909F35CB1B0}"/>
              </a:ext>
            </a:extLst>
          </p:cNvPr>
          <p:cNvCxnSpPr/>
          <p:nvPr/>
        </p:nvCxnSpPr>
        <p:spPr>
          <a:xfrm flipH="1" flipV="1">
            <a:off x="6553200" y="331827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CBB909D-EDE8-AFEB-6591-4EF34B349556}"/>
              </a:ext>
            </a:extLst>
          </p:cNvPr>
          <p:cNvCxnSpPr/>
          <p:nvPr/>
        </p:nvCxnSpPr>
        <p:spPr>
          <a:xfrm flipH="1" flipV="1">
            <a:off x="7467600" y="3277844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620C75-A9C4-3D71-C87A-2379C26BA471}"/>
              </a:ext>
            </a:extLst>
          </p:cNvPr>
          <p:cNvCxnSpPr/>
          <p:nvPr/>
        </p:nvCxnSpPr>
        <p:spPr>
          <a:xfrm flipH="1" flipV="1">
            <a:off x="8305799" y="32766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3C8DDF-F9F9-53E4-B0A8-ED0F45446AD4}"/>
              </a:ext>
            </a:extLst>
          </p:cNvPr>
          <p:cNvCxnSpPr/>
          <p:nvPr/>
        </p:nvCxnSpPr>
        <p:spPr>
          <a:xfrm flipH="1" flipV="1">
            <a:off x="5349163" y="36576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650199-4BC0-B44B-8B35-CEA6A14DFB88}"/>
              </a:ext>
            </a:extLst>
          </p:cNvPr>
          <p:cNvCxnSpPr>
            <a:cxnSpLocks/>
          </p:cNvCxnSpPr>
          <p:nvPr/>
        </p:nvCxnSpPr>
        <p:spPr>
          <a:xfrm flipV="1">
            <a:off x="5898502" y="36576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A1152C-192C-A087-90A6-C3E88CF0BB9B}"/>
              </a:ext>
            </a:extLst>
          </p:cNvPr>
          <p:cNvCxnSpPr/>
          <p:nvPr/>
        </p:nvCxnSpPr>
        <p:spPr>
          <a:xfrm flipH="1" flipV="1">
            <a:off x="6558643" y="368403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2635AC-11B9-3E83-AB79-D2EAA42C95B4}"/>
              </a:ext>
            </a:extLst>
          </p:cNvPr>
          <p:cNvCxnSpPr/>
          <p:nvPr/>
        </p:nvCxnSpPr>
        <p:spPr>
          <a:xfrm flipH="1" flipV="1">
            <a:off x="7456714" y="36576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131605-D5DD-074C-B496-1A89A3D71F13}"/>
              </a:ext>
            </a:extLst>
          </p:cNvPr>
          <p:cNvCxnSpPr/>
          <p:nvPr/>
        </p:nvCxnSpPr>
        <p:spPr>
          <a:xfrm flipH="1" flipV="1">
            <a:off x="8382000" y="368403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15B7AE-9946-938D-AE5E-DAF781B7E7A8}"/>
              </a:ext>
            </a:extLst>
          </p:cNvPr>
          <p:cNvCxnSpPr>
            <a:cxnSpLocks/>
          </p:cNvCxnSpPr>
          <p:nvPr/>
        </p:nvCxnSpPr>
        <p:spPr>
          <a:xfrm flipV="1">
            <a:off x="5451800" y="4043888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3AB609F-A2A6-4614-8B78-7F3356535D9F}"/>
              </a:ext>
            </a:extLst>
          </p:cNvPr>
          <p:cNvCxnSpPr>
            <a:cxnSpLocks/>
          </p:cNvCxnSpPr>
          <p:nvPr/>
        </p:nvCxnSpPr>
        <p:spPr>
          <a:xfrm flipV="1">
            <a:off x="5898502" y="39888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09CE4B-E95C-AE40-9883-9CE52D97F056}"/>
              </a:ext>
            </a:extLst>
          </p:cNvPr>
          <p:cNvCxnSpPr>
            <a:cxnSpLocks/>
          </p:cNvCxnSpPr>
          <p:nvPr/>
        </p:nvCxnSpPr>
        <p:spPr>
          <a:xfrm flipV="1">
            <a:off x="6708710" y="39888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18849F-0DD3-D19A-5C4C-735B5F192070}"/>
              </a:ext>
            </a:extLst>
          </p:cNvPr>
          <p:cNvCxnSpPr/>
          <p:nvPr/>
        </p:nvCxnSpPr>
        <p:spPr>
          <a:xfrm flipH="1" flipV="1">
            <a:off x="7472265" y="402336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A7A596-3254-ECAC-3E31-6F9A2BF5ED8D}"/>
              </a:ext>
            </a:extLst>
          </p:cNvPr>
          <p:cNvCxnSpPr/>
          <p:nvPr/>
        </p:nvCxnSpPr>
        <p:spPr>
          <a:xfrm flipH="1" flipV="1">
            <a:off x="8305799" y="403611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4DB491-DA93-0DE5-0A8F-79A4148C8FCF}"/>
              </a:ext>
            </a:extLst>
          </p:cNvPr>
          <p:cNvCxnSpPr>
            <a:cxnSpLocks/>
          </p:cNvCxnSpPr>
          <p:nvPr/>
        </p:nvCxnSpPr>
        <p:spPr>
          <a:xfrm flipV="1">
            <a:off x="5467739" y="439223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B078C9-C7AF-3773-29A6-2DB1C56DC266}"/>
              </a:ext>
            </a:extLst>
          </p:cNvPr>
          <p:cNvCxnSpPr>
            <a:cxnSpLocks/>
          </p:cNvCxnSpPr>
          <p:nvPr/>
        </p:nvCxnSpPr>
        <p:spPr>
          <a:xfrm flipV="1">
            <a:off x="7620000" y="4340912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E09ABD-9644-F6CC-947B-EEDF879407AE}"/>
              </a:ext>
            </a:extLst>
          </p:cNvPr>
          <p:cNvCxnSpPr/>
          <p:nvPr/>
        </p:nvCxnSpPr>
        <p:spPr>
          <a:xfrm flipH="1" flipV="1">
            <a:off x="8430208" y="44018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8062E2-96A2-88E1-47E0-DC2D04ACA605}"/>
              </a:ext>
            </a:extLst>
          </p:cNvPr>
          <p:cNvCxnSpPr/>
          <p:nvPr/>
        </p:nvCxnSpPr>
        <p:spPr>
          <a:xfrm flipH="1" flipV="1">
            <a:off x="6600242" y="44018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2D8053C-013C-1C60-6182-031B0FD683B1}"/>
              </a:ext>
            </a:extLst>
          </p:cNvPr>
          <p:cNvCxnSpPr/>
          <p:nvPr/>
        </p:nvCxnSpPr>
        <p:spPr>
          <a:xfrm flipH="1" flipV="1">
            <a:off x="5746102" y="44018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61D99E78-6A16-FC6B-BB6F-097040938602}"/>
              </a:ext>
            </a:extLst>
          </p:cNvPr>
          <p:cNvSpPr/>
          <p:nvPr/>
        </p:nvSpPr>
        <p:spPr>
          <a:xfrm>
            <a:off x="7924801" y="4293638"/>
            <a:ext cx="914395" cy="50198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45BEB1-1002-5254-2D8D-C719BBF5554E}"/>
              </a:ext>
            </a:extLst>
          </p:cNvPr>
          <p:cNvSpPr txBox="1"/>
          <p:nvPr/>
        </p:nvSpPr>
        <p:spPr>
          <a:xfrm>
            <a:off x="2057400" y="5029200"/>
            <a:ext cx="3688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ucida Sans Typewriter" panose="020B0509030504030204" pitchFamily="49" charset="0"/>
              </a:rPr>
              <a:t>Items taken.</a:t>
            </a:r>
          </a:p>
          <a:p>
            <a:r>
              <a:rPr lang="en-GB" dirty="0">
                <a:latin typeface="Lucida Sans Typewriter" panose="020B0509030504030204" pitchFamily="49" charset="0"/>
              </a:rPr>
              <a:t>Item 4</a:t>
            </a:r>
          </a:p>
          <a:p>
            <a:endParaRPr lang="en-US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2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B3C21-2A23-46B5-5DAA-E798C62A5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242602"/>
            <a:ext cx="8229600" cy="603376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Lucida Sans Typewriter" panose="020B0509030504030204" pitchFamily="49" charset="0"/>
              </a:rPr>
              <a:t>Backtracking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FF495-7A6E-8F90-C448-144B532DB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845979"/>
            <a:ext cx="8229600" cy="4525963"/>
          </a:xfrm>
        </p:spPr>
        <p:txBody>
          <a:bodyPr>
            <a:normAutofit/>
          </a:bodyPr>
          <a:lstStyle/>
          <a:p>
            <a:r>
              <a:rPr lang="en-GB" sz="1800" dirty="0">
                <a:latin typeface="Lucida Sans Typewriter" panose="020B0509030504030204" pitchFamily="49" charset="0"/>
              </a:rPr>
              <a:t>Current cell arrow is up, skip item 3</a:t>
            </a:r>
            <a:endParaRPr lang="en-US" sz="1800" dirty="0">
              <a:latin typeface="Lucida Sans Typewriter" panose="020B05090305040302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10607E-F777-DE82-2E76-B165E1CBAB79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2514600"/>
          <a:ext cx="67818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99465517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Lucida Sans Typewriter" pitchFamily="49" charset="0"/>
                        </a:rPr>
                        <a:t>w1=2,v1=12</a:t>
                      </a:r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Lucida Sans Typewriter" pitchFamily="49" charset="0"/>
                        </a:rPr>
                        <a:t>w2=1,v2=10</a:t>
                      </a:r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10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12 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Lucida Sans Typewriter" pitchFamily="49" charset="0"/>
                        </a:rPr>
                        <a:t>w3=3,v3=20</a:t>
                      </a:r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Lucida Sans Typewriter" pitchFamily="49" charset="0"/>
                        </a:rPr>
                        <a:t>w4=2,v4=15</a:t>
                      </a:r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899CBF-B50A-6581-4267-CAF1BEBAA648}"/>
              </a:ext>
            </a:extLst>
          </p:cNvPr>
          <p:cNvCxnSpPr>
            <a:cxnSpLocks/>
          </p:cNvCxnSpPr>
          <p:nvPr/>
        </p:nvCxnSpPr>
        <p:spPr>
          <a:xfrm flipV="1">
            <a:off x="5359659" y="32766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5BB690-3FF3-56AA-A037-09359B5BA93D}"/>
              </a:ext>
            </a:extLst>
          </p:cNvPr>
          <p:cNvCxnSpPr/>
          <p:nvPr/>
        </p:nvCxnSpPr>
        <p:spPr>
          <a:xfrm flipH="1" flipV="1">
            <a:off x="5715000" y="332232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6E71F4-C2F1-2019-A2F2-C909F35CB1B0}"/>
              </a:ext>
            </a:extLst>
          </p:cNvPr>
          <p:cNvCxnSpPr/>
          <p:nvPr/>
        </p:nvCxnSpPr>
        <p:spPr>
          <a:xfrm flipH="1" flipV="1">
            <a:off x="6553200" y="331827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CBB909D-EDE8-AFEB-6591-4EF34B349556}"/>
              </a:ext>
            </a:extLst>
          </p:cNvPr>
          <p:cNvCxnSpPr/>
          <p:nvPr/>
        </p:nvCxnSpPr>
        <p:spPr>
          <a:xfrm flipH="1" flipV="1">
            <a:off x="7467600" y="3277844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620C75-A9C4-3D71-C87A-2379C26BA471}"/>
              </a:ext>
            </a:extLst>
          </p:cNvPr>
          <p:cNvCxnSpPr/>
          <p:nvPr/>
        </p:nvCxnSpPr>
        <p:spPr>
          <a:xfrm flipH="1" flipV="1">
            <a:off x="8305799" y="32766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3C8DDF-F9F9-53E4-B0A8-ED0F45446AD4}"/>
              </a:ext>
            </a:extLst>
          </p:cNvPr>
          <p:cNvCxnSpPr/>
          <p:nvPr/>
        </p:nvCxnSpPr>
        <p:spPr>
          <a:xfrm flipH="1" flipV="1">
            <a:off x="5349163" y="36576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650199-4BC0-B44B-8B35-CEA6A14DFB88}"/>
              </a:ext>
            </a:extLst>
          </p:cNvPr>
          <p:cNvCxnSpPr>
            <a:cxnSpLocks/>
          </p:cNvCxnSpPr>
          <p:nvPr/>
        </p:nvCxnSpPr>
        <p:spPr>
          <a:xfrm flipV="1">
            <a:off x="5898502" y="36576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A1152C-192C-A087-90A6-C3E88CF0BB9B}"/>
              </a:ext>
            </a:extLst>
          </p:cNvPr>
          <p:cNvCxnSpPr/>
          <p:nvPr/>
        </p:nvCxnSpPr>
        <p:spPr>
          <a:xfrm flipH="1" flipV="1">
            <a:off x="6558643" y="368403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2635AC-11B9-3E83-AB79-D2EAA42C95B4}"/>
              </a:ext>
            </a:extLst>
          </p:cNvPr>
          <p:cNvCxnSpPr/>
          <p:nvPr/>
        </p:nvCxnSpPr>
        <p:spPr>
          <a:xfrm flipH="1" flipV="1">
            <a:off x="7456714" y="36576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131605-D5DD-074C-B496-1A89A3D71F13}"/>
              </a:ext>
            </a:extLst>
          </p:cNvPr>
          <p:cNvCxnSpPr/>
          <p:nvPr/>
        </p:nvCxnSpPr>
        <p:spPr>
          <a:xfrm flipH="1" flipV="1">
            <a:off x="8382000" y="368403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15B7AE-9946-938D-AE5E-DAF781B7E7A8}"/>
              </a:ext>
            </a:extLst>
          </p:cNvPr>
          <p:cNvCxnSpPr>
            <a:cxnSpLocks/>
          </p:cNvCxnSpPr>
          <p:nvPr/>
        </p:nvCxnSpPr>
        <p:spPr>
          <a:xfrm flipV="1">
            <a:off x="5451800" y="4043888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3AB609F-A2A6-4614-8B78-7F3356535D9F}"/>
              </a:ext>
            </a:extLst>
          </p:cNvPr>
          <p:cNvCxnSpPr>
            <a:cxnSpLocks/>
          </p:cNvCxnSpPr>
          <p:nvPr/>
        </p:nvCxnSpPr>
        <p:spPr>
          <a:xfrm flipV="1">
            <a:off x="5898502" y="39888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09CE4B-E95C-AE40-9883-9CE52D97F056}"/>
              </a:ext>
            </a:extLst>
          </p:cNvPr>
          <p:cNvCxnSpPr>
            <a:cxnSpLocks/>
          </p:cNvCxnSpPr>
          <p:nvPr/>
        </p:nvCxnSpPr>
        <p:spPr>
          <a:xfrm flipV="1">
            <a:off x="6708710" y="39888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18849F-0DD3-D19A-5C4C-735B5F192070}"/>
              </a:ext>
            </a:extLst>
          </p:cNvPr>
          <p:cNvCxnSpPr/>
          <p:nvPr/>
        </p:nvCxnSpPr>
        <p:spPr>
          <a:xfrm flipH="1" flipV="1">
            <a:off x="7472265" y="402336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A7A596-3254-ECAC-3E31-6F9A2BF5ED8D}"/>
              </a:ext>
            </a:extLst>
          </p:cNvPr>
          <p:cNvCxnSpPr/>
          <p:nvPr/>
        </p:nvCxnSpPr>
        <p:spPr>
          <a:xfrm flipH="1" flipV="1">
            <a:off x="8305799" y="403611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4DB491-DA93-0DE5-0A8F-79A4148C8FCF}"/>
              </a:ext>
            </a:extLst>
          </p:cNvPr>
          <p:cNvCxnSpPr>
            <a:cxnSpLocks/>
          </p:cNvCxnSpPr>
          <p:nvPr/>
        </p:nvCxnSpPr>
        <p:spPr>
          <a:xfrm flipV="1">
            <a:off x="5467739" y="439223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B078C9-C7AF-3773-29A6-2DB1C56DC266}"/>
              </a:ext>
            </a:extLst>
          </p:cNvPr>
          <p:cNvCxnSpPr>
            <a:cxnSpLocks/>
          </p:cNvCxnSpPr>
          <p:nvPr/>
        </p:nvCxnSpPr>
        <p:spPr>
          <a:xfrm flipV="1">
            <a:off x="7620000" y="4340912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E09ABD-9644-F6CC-947B-EEDF879407AE}"/>
              </a:ext>
            </a:extLst>
          </p:cNvPr>
          <p:cNvCxnSpPr/>
          <p:nvPr/>
        </p:nvCxnSpPr>
        <p:spPr>
          <a:xfrm flipH="1" flipV="1">
            <a:off x="8430208" y="44018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8062E2-96A2-88E1-47E0-DC2D04ACA605}"/>
              </a:ext>
            </a:extLst>
          </p:cNvPr>
          <p:cNvCxnSpPr/>
          <p:nvPr/>
        </p:nvCxnSpPr>
        <p:spPr>
          <a:xfrm flipH="1" flipV="1">
            <a:off x="6600242" y="44018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2D8053C-013C-1C60-6182-031B0FD683B1}"/>
              </a:ext>
            </a:extLst>
          </p:cNvPr>
          <p:cNvCxnSpPr/>
          <p:nvPr/>
        </p:nvCxnSpPr>
        <p:spPr>
          <a:xfrm flipH="1" flipV="1">
            <a:off x="5746102" y="44018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61D99E78-6A16-FC6B-BB6F-097040938602}"/>
              </a:ext>
            </a:extLst>
          </p:cNvPr>
          <p:cNvSpPr/>
          <p:nvPr/>
        </p:nvSpPr>
        <p:spPr>
          <a:xfrm>
            <a:off x="6413241" y="3899886"/>
            <a:ext cx="914395" cy="50198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45BEB1-1002-5254-2D8D-C719BBF5554E}"/>
              </a:ext>
            </a:extLst>
          </p:cNvPr>
          <p:cNvSpPr txBox="1"/>
          <p:nvPr/>
        </p:nvSpPr>
        <p:spPr>
          <a:xfrm>
            <a:off x="2057400" y="5029200"/>
            <a:ext cx="3688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ucida Sans Typewriter" panose="020B0509030504030204" pitchFamily="49" charset="0"/>
              </a:rPr>
              <a:t>Items taken.</a:t>
            </a:r>
          </a:p>
          <a:p>
            <a:r>
              <a:rPr lang="en-GB" dirty="0">
                <a:latin typeface="Lucida Sans Typewriter" panose="020B0509030504030204" pitchFamily="49" charset="0"/>
              </a:rPr>
              <a:t>Item 4</a:t>
            </a:r>
          </a:p>
          <a:p>
            <a:endParaRPr lang="en-US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323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B3C21-2A23-46B5-5DAA-E798C62A5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242602"/>
            <a:ext cx="8229600" cy="603376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Lucida Sans Typewriter" panose="020B0509030504030204" pitchFamily="49" charset="0"/>
              </a:rPr>
              <a:t>Backtracking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FF495-7A6E-8F90-C448-144B532DB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845979"/>
            <a:ext cx="8229600" cy="4525963"/>
          </a:xfrm>
        </p:spPr>
        <p:txBody>
          <a:bodyPr>
            <a:normAutofit/>
          </a:bodyPr>
          <a:lstStyle/>
          <a:p>
            <a:r>
              <a:rPr lang="en-GB" sz="1800" dirty="0">
                <a:latin typeface="Lucida Sans Typewriter" panose="020B0509030504030204" pitchFamily="49" charset="0"/>
              </a:rPr>
              <a:t>Current cell arrow is diagonal, add item 2</a:t>
            </a:r>
            <a:endParaRPr lang="en-US" sz="1800" dirty="0">
              <a:latin typeface="Lucida Sans Typewriter" panose="020B05090305040302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10607E-F777-DE82-2E76-B165E1CBAB79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2514600"/>
          <a:ext cx="67818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99465517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Lucida Sans Typewriter" pitchFamily="49" charset="0"/>
                        </a:rPr>
                        <a:t>w1=2,v1=12</a:t>
                      </a:r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Lucida Sans Typewriter" pitchFamily="49" charset="0"/>
                        </a:rPr>
                        <a:t>w2=1,v2=10</a:t>
                      </a:r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10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12 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Lucida Sans Typewriter" pitchFamily="49" charset="0"/>
                        </a:rPr>
                        <a:t>w3=3,v3=20</a:t>
                      </a:r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Lucida Sans Typewriter" pitchFamily="49" charset="0"/>
                        </a:rPr>
                        <a:t>w4=2,v4=15</a:t>
                      </a:r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899CBF-B50A-6581-4267-CAF1BEBAA648}"/>
              </a:ext>
            </a:extLst>
          </p:cNvPr>
          <p:cNvCxnSpPr>
            <a:cxnSpLocks/>
          </p:cNvCxnSpPr>
          <p:nvPr/>
        </p:nvCxnSpPr>
        <p:spPr>
          <a:xfrm flipV="1">
            <a:off x="5359659" y="32766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5BB690-3FF3-56AA-A037-09359B5BA93D}"/>
              </a:ext>
            </a:extLst>
          </p:cNvPr>
          <p:cNvCxnSpPr/>
          <p:nvPr/>
        </p:nvCxnSpPr>
        <p:spPr>
          <a:xfrm flipH="1" flipV="1">
            <a:off x="5715000" y="332232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6E71F4-C2F1-2019-A2F2-C909F35CB1B0}"/>
              </a:ext>
            </a:extLst>
          </p:cNvPr>
          <p:cNvCxnSpPr/>
          <p:nvPr/>
        </p:nvCxnSpPr>
        <p:spPr>
          <a:xfrm flipH="1" flipV="1">
            <a:off x="6553200" y="331827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CBB909D-EDE8-AFEB-6591-4EF34B349556}"/>
              </a:ext>
            </a:extLst>
          </p:cNvPr>
          <p:cNvCxnSpPr/>
          <p:nvPr/>
        </p:nvCxnSpPr>
        <p:spPr>
          <a:xfrm flipH="1" flipV="1">
            <a:off x="7467600" y="3277844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620C75-A9C4-3D71-C87A-2379C26BA471}"/>
              </a:ext>
            </a:extLst>
          </p:cNvPr>
          <p:cNvCxnSpPr/>
          <p:nvPr/>
        </p:nvCxnSpPr>
        <p:spPr>
          <a:xfrm flipH="1" flipV="1">
            <a:off x="8305799" y="32766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3C8DDF-F9F9-53E4-B0A8-ED0F45446AD4}"/>
              </a:ext>
            </a:extLst>
          </p:cNvPr>
          <p:cNvCxnSpPr/>
          <p:nvPr/>
        </p:nvCxnSpPr>
        <p:spPr>
          <a:xfrm flipH="1" flipV="1">
            <a:off x="5349163" y="36576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650199-4BC0-B44B-8B35-CEA6A14DFB88}"/>
              </a:ext>
            </a:extLst>
          </p:cNvPr>
          <p:cNvCxnSpPr>
            <a:cxnSpLocks/>
          </p:cNvCxnSpPr>
          <p:nvPr/>
        </p:nvCxnSpPr>
        <p:spPr>
          <a:xfrm flipV="1">
            <a:off x="5898502" y="36576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A1152C-192C-A087-90A6-C3E88CF0BB9B}"/>
              </a:ext>
            </a:extLst>
          </p:cNvPr>
          <p:cNvCxnSpPr/>
          <p:nvPr/>
        </p:nvCxnSpPr>
        <p:spPr>
          <a:xfrm flipH="1" flipV="1">
            <a:off x="6558643" y="368403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2635AC-11B9-3E83-AB79-D2EAA42C95B4}"/>
              </a:ext>
            </a:extLst>
          </p:cNvPr>
          <p:cNvCxnSpPr/>
          <p:nvPr/>
        </p:nvCxnSpPr>
        <p:spPr>
          <a:xfrm flipH="1" flipV="1">
            <a:off x="7456714" y="36576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131605-D5DD-074C-B496-1A89A3D71F13}"/>
              </a:ext>
            </a:extLst>
          </p:cNvPr>
          <p:cNvCxnSpPr/>
          <p:nvPr/>
        </p:nvCxnSpPr>
        <p:spPr>
          <a:xfrm flipH="1" flipV="1">
            <a:off x="8382000" y="368403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15B7AE-9946-938D-AE5E-DAF781B7E7A8}"/>
              </a:ext>
            </a:extLst>
          </p:cNvPr>
          <p:cNvCxnSpPr>
            <a:cxnSpLocks/>
          </p:cNvCxnSpPr>
          <p:nvPr/>
        </p:nvCxnSpPr>
        <p:spPr>
          <a:xfrm flipV="1">
            <a:off x="5451800" y="4043888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3AB609F-A2A6-4614-8B78-7F3356535D9F}"/>
              </a:ext>
            </a:extLst>
          </p:cNvPr>
          <p:cNvCxnSpPr>
            <a:cxnSpLocks/>
          </p:cNvCxnSpPr>
          <p:nvPr/>
        </p:nvCxnSpPr>
        <p:spPr>
          <a:xfrm flipV="1">
            <a:off x="5898502" y="39888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09CE4B-E95C-AE40-9883-9CE52D97F056}"/>
              </a:ext>
            </a:extLst>
          </p:cNvPr>
          <p:cNvCxnSpPr>
            <a:cxnSpLocks/>
          </p:cNvCxnSpPr>
          <p:nvPr/>
        </p:nvCxnSpPr>
        <p:spPr>
          <a:xfrm flipV="1">
            <a:off x="6708710" y="39888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18849F-0DD3-D19A-5C4C-735B5F192070}"/>
              </a:ext>
            </a:extLst>
          </p:cNvPr>
          <p:cNvCxnSpPr/>
          <p:nvPr/>
        </p:nvCxnSpPr>
        <p:spPr>
          <a:xfrm flipH="1" flipV="1">
            <a:off x="7472265" y="402336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A7A596-3254-ECAC-3E31-6F9A2BF5ED8D}"/>
              </a:ext>
            </a:extLst>
          </p:cNvPr>
          <p:cNvCxnSpPr/>
          <p:nvPr/>
        </p:nvCxnSpPr>
        <p:spPr>
          <a:xfrm flipH="1" flipV="1">
            <a:off x="8305799" y="403611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4DB491-DA93-0DE5-0A8F-79A4148C8FCF}"/>
              </a:ext>
            </a:extLst>
          </p:cNvPr>
          <p:cNvCxnSpPr>
            <a:cxnSpLocks/>
          </p:cNvCxnSpPr>
          <p:nvPr/>
        </p:nvCxnSpPr>
        <p:spPr>
          <a:xfrm flipV="1">
            <a:off x="5467739" y="439223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B078C9-C7AF-3773-29A6-2DB1C56DC266}"/>
              </a:ext>
            </a:extLst>
          </p:cNvPr>
          <p:cNvCxnSpPr>
            <a:cxnSpLocks/>
          </p:cNvCxnSpPr>
          <p:nvPr/>
        </p:nvCxnSpPr>
        <p:spPr>
          <a:xfrm flipV="1">
            <a:off x="7620000" y="4340912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E09ABD-9644-F6CC-947B-EEDF879407AE}"/>
              </a:ext>
            </a:extLst>
          </p:cNvPr>
          <p:cNvCxnSpPr/>
          <p:nvPr/>
        </p:nvCxnSpPr>
        <p:spPr>
          <a:xfrm flipH="1" flipV="1">
            <a:off x="8430208" y="44018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8062E2-96A2-88E1-47E0-DC2D04ACA605}"/>
              </a:ext>
            </a:extLst>
          </p:cNvPr>
          <p:cNvCxnSpPr/>
          <p:nvPr/>
        </p:nvCxnSpPr>
        <p:spPr>
          <a:xfrm flipH="1" flipV="1">
            <a:off x="6600242" y="44018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2D8053C-013C-1C60-6182-031B0FD683B1}"/>
              </a:ext>
            </a:extLst>
          </p:cNvPr>
          <p:cNvCxnSpPr/>
          <p:nvPr/>
        </p:nvCxnSpPr>
        <p:spPr>
          <a:xfrm flipH="1" flipV="1">
            <a:off x="5746102" y="44018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61D99E78-6A16-FC6B-BB6F-097040938602}"/>
              </a:ext>
            </a:extLst>
          </p:cNvPr>
          <p:cNvSpPr/>
          <p:nvPr/>
        </p:nvSpPr>
        <p:spPr>
          <a:xfrm>
            <a:off x="6404304" y="3582023"/>
            <a:ext cx="914395" cy="50198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45BEB1-1002-5254-2D8D-C719BBF5554E}"/>
              </a:ext>
            </a:extLst>
          </p:cNvPr>
          <p:cNvSpPr txBox="1"/>
          <p:nvPr/>
        </p:nvSpPr>
        <p:spPr>
          <a:xfrm>
            <a:off x="2057400" y="5029201"/>
            <a:ext cx="3688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ucida Sans Typewriter" panose="020B0509030504030204" pitchFamily="49" charset="0"/>
              </a:rPr>
              <a:t>Items taken.</a:t>
            </a:r>
          </a:p>
          <a:p>
            <a:r>
              <a:rPr lang="en-GB" dirty="0">
                <a:latin typeface="Lucida Sans Typewriter" panose="020B0509030504030204" pitchFamily="49" charset="0"/>
              </a:rPr>
              <a:t>Item 4</a:t>
            </a:r>
          </a:p>
          <a:p>
            <a:r>
              <a:rPr lang="en-GB" dirty="0">
                <a:latin typeface="Lucida Sans Typewriter" panose="020B0509030504030204" pitchFamily="49" charset="0"/>
              </a:rPr>
              <a:t>Item 2</a:t>
            </a:r>
          </a:p>
          <a:p>
            <a:endParaRPr lang="en-US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538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B3C21-2A23-46B5-5DAA-E798C62A5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242602"/>
            <a:ext cx="8229600" cy="603376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Lucida Sans Typewriter" panose="020B0509030504030204" pitchFamily="49" charset="0"/>
              </a:rPr>
              <a:t>Backtracking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FF495-7A6E-8F90-C448-144B532DB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845979"/>
            <a:ext cx="8229600" cy="4525963"/>
          </a:xfrm>
        </p:spPr>
        <p:txBody>
          <a:bodyPr>
            <a:normAutofit/>
          </a:bodyPr>
          <a:lstStyle/>
          <a:p>
            <a:r>
              <a:rPr lang="en-GB" sz="1800" dirty="0">
                <a:latin typeface="Lucida Sans Typewriter" panose="020B0509030504030204" pitchFamily="49" charset="0"/>
              </a:rPr>
              <a:t>Current cell arrow is diagonal, add item 1</a:t>
            </a:r>
            <a:endParaRPr lang="en-US" sz="1800" dirty="0">
              <a:latin typeface="Lucida Sans Typewriter" panose="020B05090305040302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10607E-F777-DE82-2E76-B165E1CBAB79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2514600"/>
          <a:ext cx="67818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99465517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Lucida Sans Typewriter" pitchFamily="49" charset="0"/>
                        </a:rPr>
                        <a:t>w1=2,v1=12</a:t>
                      </a:r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Lucida Sans Typewriter" pitchFamily="49" charset="0"/>
                        </a:rPr>
                        <a:t>w2=1,v2=10</a:t>
                      </a:r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10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12 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Lucida Sans Typewriter" pitchFamily="49" charset="0"/>
                        </a:rPr>
                        <a:t>22</a:t>
                      </a:r>
                      <a:endParaRPr lang="en-US" sz="1400" dirty="0">
                        <a:latin typeface="Lucida Sans Typewriter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Lucida Sans Typewriter" pitchFamily="49" charset="0"/>
                        </a:rPr>
                        <a:t>w3=3,v3=20</a:t>
                      </a:r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Lucida Sans Typewriter" pitchFamily="49" charset="0"/>
                        </a:rPr>
                        <a:t>w4=2,v4=15</a:t>
                      </a:r>
                      <a:endParaRPr lang="en-US" sz="1600" dirty="0">
                        <a:latin typeface="Lucida Sans Typewriter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ucida Sans Typewriter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Lucida Sans Typewriter" pitchFamily="49" charset="0"/>
                        </a:rPr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899CBF-B50A-6581-4267-CAF1BEBAA648}"/>
              </a:ext>
            </a:extLst>
          </p:cNvPr>
          <p:cNvCxnSpPr>
            <a:cxnSpLocks/>
          </p:cNvCxnSpPr>
          <p:nvPr/>
        </p:nvCxnSpPr>
        <p:spPr>
          <a:xfrm flipV="1">
            <a:off x="5359659" y="32766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5BB690-3FF3-56AA-A037-09359B5BA93D}"/>
              </a:ext>
            </a:extLst>
          </p:cNvPr>
          <p:cNvCxnSpPr/>
          <p:nvPr/>
        </p:nvCxnSpPr>
        <p:spPr>
          <a:xfrm flipH="1" flipV="1">
            <a:off x="5715000" y="332232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6E71F4-C2F1-2019-A2F2-C909F35CB1B0}"/>
              </a:ext>
            </a:extLst>
          </p:cNvPr>
          <p:cNvCxnSpPr/>
          <p:nvPr/>
        </p:nvCxnSpPr>
        <p:spPr>
          <a:xfrm flipH="1" flipV="1">
            <a:off x="6553200" y="331827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CBB909D-EDE8-AFEB-6591-4EF34B349556}"/>
              </a:ext>
            </a:extLst>
          </p:cNvPr>
          <p:cNvCxnSpPr/>
          <p:nvPr/>
        </p:nvCxnSpPr>
        <p:spPr>
          <a:xfrm flipH="1" flipV="1">
            <a:off x="7467600" y="3277844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620C75-A9C4-3D71-C87A-2379C26BA471}"/>
              </a:ext>
            </a:extLst>
          </p:cNvPr>
          <p:cNvCxnSpPr/>
          <p:nvPr/>
        </p:nvCxnSpPr>
        <p:spPr>
          <a:xfrm flipH="1" flipV="1">
            <a:off x="8305799" y="32766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3C8DDF-F9F9-53E4-B0A8-ED0F45446AD4}"/>
              </a:ext>
            </a:extLst>
          </p:cNvPr>
          <p:cNvCxnSpPr/>
          <p:nvPr/>
        </p:nvCxnSpPr>
        <p:spPr>
          <a:xfrm flipH="1" flipV="1">
            <a:off x="5349163" y="36576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650199-4BC0-B44B-8B35-CEA6A14DFB88}"/>
              </a:ext>
            </a:extLst>
          </p:cNvPr>
          <p:cNvCxnSpPr>
            <a:cxnSpLocks/>
          </p:cNvCxnSpPr>
          <p:nvPr/>
        </p:nvCxnSpPr>
        <p:spPr>
          <a:xfrm flipV="1">
            <a:off x="5898502" y="365760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A1152C-192C-A087-90A6-C3E88CF0BB9B}"/>
              </a:ext>
            </a:extLst>
          </p:cNvPr>
          <p:cNvCxnSpPr/>
          <p:nvPr/>
        </p:nvCxnSpPr>
        <p:spPr>
          <a:xfrm flipH="1" flipV="1">
            <a:off x="6558643" y="368403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2635AC-11B9-3E83-AB79-D2EAA42C95B4}"/>
              </a:ext>
            </a:extLst>
          </p:cNvPr>
          <p:cNvCxnSpPr/>
          <p:nvPr/>
        </p:nvCxnSpPr>
        <p:spPr>
          <a:xfrm flipH="1" flipV="1">
            <a:off x="7456714" y="365760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131605-D5DD-074C-B496-1A89A3D71F13}"/>
              </a:ext>
            </a:extLst>
          </p:cNvPr>
          <p:cNvCxnSpPr/>
          <p:nvPr/>
        </p:nvCxnSpPr>
        <p:spPr>
          <a:xfrm flipH="1" flipV="1">
            <a:off x="8382000" y="3684037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15B7AE-9946-938D-AE5E-DAF781B7E7A8}"/>
              </a:ext>
            </a:extLst>
          </p:cNvPr>
          <p:cNvCxnSpPr>
            <a:cxnSpLocks/>
          </p:cNvCxnSpPr>
          <p:nvPr/>
        </p:nvCxnSpPr>
        <p:spPr>
          <a:xfrm flipV="1">
            <a:off x="5451800" y="4043888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3AB609F-A2A6-4614-8B78-7F3356535D9F}"/>
              </a:ext>
            </a:extLst>
          </p:cNvPr>
          <p:cNvCxnSpPr>
            <a:cxnSpLocks/>
          </p:cNvCxnSpPr>
          <p:nvPr/>
        </p:nvCxnSpPr>
        <p:spPr>
          <a:xfrm flipV="1">
            <a:off x="5898502" y="39888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09CE4B-E95C-AE40-9883-9CE52D97F056}"/>
              </a:ext>
            </a:extLst>
          </p:cNvPr>
          <p:cNvCxnSpPr>
            <a:cxnSpLocks/>
          </p:cNvCxnSpPr>
          <p:nvPr/>
        </p:nvCxnSpPr>
        <p:spPr>
          <a:xfrm flipV="1">
            <a:off x="6708710" y="3988837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18849F-0DD3-D19A-5C4C-735B5F192070}"/>
              </a:ext>
            </a:extLst>
          </p:cNvPr>
          <p:cNvCxnSpPr/>
          <p:nvPr/>
        </p:nvCxnSpPr>
        <p:spPr>
          <a:xfrm flipH="1" flipV="1">
            <a:off x="7472265" y="4023360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A7A596-3254-ECAC-3E31-6F9A2BF5ED8D}"/>
              </a:ext>
            </a:extLst>
          </p:cNvPr>
          <p:cNvCxnSpPr/>
          <p:nvPr/>
        </p:nvCxnSpPr>
        <p:spPr>
          <a:xfrm flipH="1" flipV="1">
            <a:off x="8305799" y="403611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4DB491-DA93-0DE5-0A8F-79A4148C8FCF}"/>
              </a:ext>
            </a:extLst>
          </p:cNvPr>
          <p:cNvCxnSpPr>
            <a:cxnSpLocks/>
          </p:cNvCxnSpPr>
          <p:nvPr/>
        </p:nvCxnSpPr>
        <p:spPr>
          <a:xfrm flipV="1">
            <a:off x="5467739" y="4392230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B078C9-C7AF-3773-29A6-2DB1C56DC266}"/>
              </a:ext>
            </a:extLst>
          </p:cNvPr>
          <p:cNvCxnSpPr>
            <a:cxnSpLocks/>
          </p:cNvCxnSpPr>
          <p:nvPr/>
        </p:nvCxnSpPr>
        <p:spPr>
          <a:xfrm flipV="1">
            <a:off x="7620000" y="4340912"/>
            <a:ext cx="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E09ABD-9644-F6CC-947B-EEDF879407AE}"/>
              </a:ext>
            </a:extLst>
          </p:cNvPr>
          <p:cNvCxnSpPr/>
          <p:nvPr/>
        </p:nvCxnSpPr>
        <p:spPr>
          <a:xfrm flipH="1" flipV="1">
            <a:off x="8430208" y="44018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8062E2-96A2-88E1-47E0-DC2D04ACA605}"/>
              </a:ext>
            </a:extLst>
          </p:cNvPr>
          <p:cNvCxnSpPr/>
          <p:nvPr/>
        </p:nvCxnSpPr>
        <p:spPr>
          <a:xfrm flipH="1" flipV="1">
            <a:off x="6600242" y="44018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2D8053C-013C-1C60-6182-031B0FD683B1}"/>
              </a:ext>
            </a:extLst>
          </p:cNvPr>
          <p:cNvCxnSpPr/>
          <p:nvPr/>
        </p:nvCxnSpPr>
        <p:spPr>
          <a:xfrm flipH="1" flipV="1">
            <a:off x="5746102" y="4401872"/>
            <a:ext cx="3048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61D99E78-6A16-FC6B-BB6F-097040938602}"/>
              </a:ext>
            </a:extLst>
          </p:cNvPr>
          <p:cNvSpPr/>
          <p:nvPr/>
        </p:nvSpPr>
        <p:spPr>
          <a:xfrm>
            <a:off x="5665633" y="3178007"/>
            <a:ext cx="914395" cy="50198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45BEB1-1002-5254-2D8D-C719BBF5554E}"/>
              </a:ext>
            </a:extLst>
          </p:cNvPr>
          <p:cNvSpPr txBox="1"/>
          <p:nvPr/>
        </p:nvSpPr>
        <p:spPr>
          <a:xfrm>
            <a:off x="2057400" y="5029201"/>
            <a:ext cx="3688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ucida Sans Typewriter" panose="020B0509030504030204" pitchFamily="49" charset="0"/>
              </a:rPr>
              <a:t>Items taken.</a:t>
            </a:r>
          </a:p>
          <a:p>
            <a:r>
              <a:rPr lang="en-GB" dirty="0">
                <a:latin typeface="Lucida Sans Typewriter" panose="020B0509030504030204" pitchFamily="49" charset="0"/>
              </a:rPr>
              <a:t>Item 4</a:t>
            </a:r>
          </a:p>
          <a:p>
            <a:r>
              <a:rPr lang="en-GB" dirty="0">
                <a:latin typeface="Lucida Sans Typewriter" panose="020B0509030504030204" pitchFamily="49" charset="0"/>
              </a:rPr>
              <a:t>Item 2</a:t>
            </a:r>
          </a:p>
          <a:p>
            <a:r>
              <a:rPr lang="en-US" dirty="0">
                <a:latin typeface="Lucida Sans Typewriter" panose="020B0509030504030204" pitchFamily="49" charset="0"/>
              </a:rPr>
              <a:t>Item 1</a:t>
            </a:r>
          </a:p>
        </p:txBody>
      </p:sp>
    </p:spTree>
    <p:extLst>
      <p:ext uri="{BB962C8B-B14F-4D97-AF65-F5344CB8AC3E}">
        <p14:creationId xmlns:p14="http://schemas.microsoft.com/office/powerpoint/2010/main" val="1212182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6E2F-6DB2-75CA-B8F4-6D67193BA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0-1 knapsack Algorithm(DP)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875EBC-B774-DB56-2EC6-C55C31840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868" y="1825625"/>
            <a:ext cx="6800263" cy="4351338"/>
          </a:xfrm>
        </p:spPr>
      </p:pic>
    </p:spTree>
    <p:extLst>
      <p:ext uri="{BB962C8B-B14F-4D97-AF65-F5344CB8AC3E}">
        <p14:creationId xmlns:p14="http://schemas.microsoft.com/office/powerpoint/2010/main" val="2549343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EF8B3-3D3C-4EAB-1FEB-EF2788621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795" y="2095954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Lucida Sans Typewriter" panose="020B0509030504030204" pitchFamily="49" charset="0"/>
              </a:rPr>
              <a:t>DP Coin Change</a:t>
            </a:r>
            <a:endParaRPr lang="en-US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9569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C82BB-2EE9-1E24-42B0-1B1DEEB27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Problem definition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05591-A3AA-2897-6489-318D7F6F0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Given unlimited amounts of coins of denominations </a:t>
            </a:r>
          </a:p>
          <a:p>
            <a:pPr marL="0" indent="0">
              <a:buNone/>
            </a:pPr>
            <a:r>
              <a:rPr lang="en-GB" sz="2400" b="0" i="1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c</a:t>
            </a:r>
            <a:r>
              <a:rPr lang="en-GB" sz="2400" b="0" i="0" u="none" strike="noStrike" baseline="-2500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1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 &gt; … &gt; </a:t>
            </a:r>
            <a:r>
              <a:rPr lang="en-GB" sz="2400" b="0" i="1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c</a:t>
            </a:r>
            <a:r>
              <a:rPr lang="en-GB" sz="2400" b="0" i="1" u="none" strike="noStrike" baseline="-2500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d</a:t>
            </a:r>
            <a:r>
              <a:rPr lang="en-GB" sz="2400" b="0" i="1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 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, give change for amount </a:t>
            </a:r>
            <a:r>
              <a:rPr lang="en-GB" sz="2400" b="0" i="1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M 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with the least number of coins. </a:t>
            </a:r>
          </a:p>
          <a:p>
            <a:pPr marL="0" indent="0">
              <a:buNone/>
            </a:pPr>
            <a:endParaRPr lang="en-GB" sz="2400" dirty="0">
              <a:solidFill>
                <a:srgbClr val="000000"/>
              </a:solidFill>
              <a:latin typeface="Lucida Sans Typewriter" panose="020B0509030504030204" pitchFamily="49" charset="0"/>
            </a:endParaRPr>
          </a:p>
          <a:p>
            <a:pPr marL="0" indent="0">
              <a:buNone/>
            </a:pPr>
            <a:endParaRPr lang="en-US" sz="3600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036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C82BB-2EE9-1E24-42B0-1B1DEEB27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Coin change problem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05591-A3AA-2897-6489-318D7F6F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474237"/>
            <a:ext cx="11318032" cy="52158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18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To find the minimum number of US coins to make any amount, the greedy method always works </a:t>
            </a: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CC0000"/>
                </a:solidFill>
                <a:latin typeface="Lucida Sans Typewriter" panose="020B0509030504030204" pitchFamily="49" charset="0"/>
              </a:rPr>
              <a:t>	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At each step, just choose the largest coin that does not overshoot the desired amount: 31¢ = (25+5+1) </a:t>
            </a:r>
          </a:p>
          <a:p>
            <a:pPr marL="0" indent="0">
              <a:buNone/>
            </a:pPr>
            <a:endParaRPr lang="en-GB" sz="1800" b="0" i="0" u="none" strike="noStrike" baseline="0" dirty="0">
              <a:solidFill>
                <a:srgbClr val="000000"/>
              </a:solidFill>
              <a:latin typeface="Lucida Sans Typewriter" panose="020B0509030504030204" pitchFamily="49" charset="0"/>
            </a:endParaRP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0032CC"/>
                </a:solidFill>
                <a:latin typeface="Lucida Sans Typewriter" panose="020B0509030504030204" pitchFamily="49" charset="0"/>
              </a:rPr>
              <a:t>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The greedy method would not work if we did not have 5¢ coins </a:t>
            </a: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CC0000"/>
                </a:solidFill>
                <a:latin typeface="Lucida Sans Typewriter" panose="020B0509030504030204" pitchFamily="49" charset="0"/>
              </a:rPr>
              <a:t>	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For 31 cents, the greedy method gives seven coins (25+1+1+1+1+1+1), but we can do it with four (10+10+10+1) </a:t>
            </a: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0032CC"/>
                </a:solidFill>
                <a:latin typeface="Lucida Sans Typewriter" panose="020B0509030504030204" pitchFamily="49" charset="0"/>
              </a:rPr>
              <a:t>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The greedy method also would not work if we had a 21¢ coin </a:t>
            </a: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CC0000"/>
                </a:solidFill>
                <a:latin typeface="Lucida Sans Typewriter" panose="020B0509030504030204" pitchFamily="49" charset="0"/>
              </a:rPr>
              <a:t>	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For 63 cents, the greedy method gives six coins (25+25+10+1+1+1), but we can do it with three (21+21+21) </a:t>
            </a: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0032CC"/>
                </a:solidFill>
                <a:latin typeface="Lucida Sans Typewriter" panose="020B0509030504030204" pitchFamily="49" charset="0"/>
              </a:rPr>
              <a:t></a:t>
            </a:r>
            <a:r>
              <a:rPr lang="en-GB" sz="1800" b="0" i="0" u="none" strike="noStrike" baseline="0" dirty="0">
                <a:solidFill>
                  <a:srgbClr val="0000CC"/>
                </a:solidFill>
                <a:latin typeface="Lucida Sans Typewriter" panose="020B0509030504030204" pitchFamily="49" charset="0"/>
              </a:rPr>
              <a:t>The greedy algorithm results in a solution, but always not in an optimal solution </a:t>
            </a: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0032CC"/>
                </a:solidFill>
                <a:latin typeface="Lucida Sans Typewriter" panose="020B0509030504030204" pitchFamily="49" charset="0"/>
              </a:rPr>
              <a:t></a:t>
            </a:r>
            <a:r>
              <a:rPr lang="en-GB" sz="1800" b="0" i="0" u="none" strike="noStrike" baseline="0" dirty="0">
                <a:solidFill>
                  <a:srgbClr val="0000CC"/>
                </a:solidFill>
                <a:latin typeface="Lucida Sans Typewriter" panose="020B0509030504030204" pitchFamily="49" charset="0"/>
              </a:rPr>
              <a:t>How can we find the minimum number of coins for any given coin set? </a:t>
            </a:r>
          </a:p>
        </p:txBody>
      </p:sp>
    </p:spTree>
    <p:extLst>
      <p:ext uri="{BB962C8B-B14F-4D97-AF65-F5344CB8AC3E}">
        <p14:creationId xmlns:p14="http://schemas.microsoft.com/office/powerpoint/2010/main" val="770709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C82BB-2EE9-1E24-42B0-1B1DEEB27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Coin change problem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D012C6-82BF-EF39-E6A2-0D699E7D14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047" y="2348556"/>
            <a:ext cx="7955969" cy="3467400"/>
          </a:xfrm>
        </p:spPr>
      </p:pic>
    </p:spTree>
    <p:extLst>
      <p:ext uri="{BB962C8B-B14F-4D97-AF65-F5344CB8AC3E}">
        <p14:creationId xmlns:p14="http://schemas.microsoft.com/office/powerpoint/2010/main" val="24559134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C82BB-2EE9-1E24-42B0-1B1DEEB27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Coin change problem: Recursive algorithm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C213644-41F1-266A-4851-5972A5CAB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50" y="1905612"/>
            <a:ext cx="6569009" cy="419136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4D68A8-DC6F-5CBB-930B-4B32F7470F1B}"/>
              </a:ext>
            </a:extLst>
          </p:cNvPr>
          <p:cNvSpPr txBox="1"/>
          <p:nvPr/>
        </p:nvSpPr>
        <p:spPr>
          <a:xfrm>
            <a:off x="8089641" y="1978090"/>
            <a:ext cx="33590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ucida Sans Typewriter" panose="020B0509030504030204" pitchFamily="49" charset="0"/>
              </a:rPr>
              <a:t>Recursive algorithm is not efficient. 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It recalculates the optimal coin combination for a given amount of money repeatedly </a:t>
            </a:r>
          </a:p>
          <a:p>
            <a:endParaRPr lang="en-US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2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C82BB-2EE9-1E24-42B0-1B1DEEB27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Coin change problem: DP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594B153-7921-9522-BAB6-9D703B3061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05" y="2115180"/>
            <a:ext cx="7963590" cy="3772227"/>
          </a:xfrm>
        </p:spPr>
      </p:pic>
    </p:spTree>
    <p:extLst>
      <p:ext uri="{BB962C8B-B14F-4D97-AF65-F5344CB8AC3E}">
        <p14:creationId xmlns:p14="http://schemas.microsoft.com/office/powerpoint/2010/main" val="10322315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5C31F-FD2F-38B9-690D-737498CE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Backtracking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6F560-D163-0BE0-798D-71B05F8EA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Lucida Sans Typewriter" panose="020B0509030504030204" pitchFamily="49" charset="0"/>
              </a:rPr>
              <a:t>Consider available coins, c={1,2,6}</a:t>
            </a:r>
          </a:p>
          <a:p>
            <a:r>
              <a:rPr lang="en-GB" sz="2400" dirty="0">
                <a:latin typeface="Lucida Sans Typewriter" panose="020B0509030504030204" pitchFamily="49" charset="0"/>
              </a:rPr>
              <a:t>Changed amount, M=11</a:t>
            </a:r>
          </a:p>
          <a:p>
            <a:r>
              <a:rPr lang="en-US" sz="2400" b="1" dirty="0" err="1">
                <a:latin typeface="Lucida Sans Typewriter" panose="020B0509030504030204" pitchFamily="49" charset="0"/>
              </a:rPr>
              <a:t>BestNumOfCoins</a:t>
            </a:r>
            <a:endParaRPr lang="en-US" sz="2400" b="1" dirty="0">
              <a:latin typeface="Lucida Sans Typewriter" panose="020B0509030504030204" pitchFamily="49" charset="0"/>
            </a:endParaRPr>
          </a:p>
          <a:p>
            <a:pPr marL="0" indent="0">
              <a:buNone/>
            </a:pPr>
            <a:endParaRPr lang="en-US" sz="2400" dirty="0">
              <a:latin typeface="Lucida Sans Typewriter" panose="020B0509030504030204" pitchFamily="49" charset="0"/>
            </a:endParaRPr>
          </a:p>
          <a:p>
            <a:pPr marL="0" indent="0">
              <a:buNone/>
            </a:pPr>
            <a:endParaRPr lang="en-US" sz="2400" dirty="0">
              <a:latin typeface="Lucida Sans Typewriter" panose="020B0509030504030204" pitchFamily="49" charset="0"/>
            </a:endParaRPr>
          </a:p>
          <a:p>
            <a:pPr marL="0" indent="0">
              <a:buNone/>
            </a:pPr>
            <a:endParaRPr lang="en-US" sz="2400" dirty="0">
              <a:latin typeface="Lucida Sans Typewriter" panose="020B0509030504030204" pitchFamily="49" charset="0"/>
            </a:endParaRPr>
          </a:p>
          <a:p>
            <a:r>
              <a:rPr lang="en-US" sz="2400" b="1" dirty="0">
                <a:latin typeface="Lucida Sans Typewriter" panose="020B0509030504030204" pitchFamily="49" charset="0"/>
              </a:rPr>
              <a:t>Chosen coins:</a:t>
            </a:r>
          </a:p>
          <a:p>
            <a:pPr marL="0" indent="0">
              <a:buNone/>
            </a:pPr>
            <a:endParaRPr lang="en-US" sz="2400" dirty="0">
              <a:latin typeface="Lucida Sans Typewriter" panose="020B0509030504030204" pitchFamily="49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2D25F61-72FD-F407-AD33-E9601B7358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506611"/>
              </p:ext>
            </p:extLst>
          </p:nvPr>
        </p:nvGraphicFramePr>
        <p:xfrm>
          <a:off x="1406849" y="3360229"/>
          <a:ext cx="8127996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412277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7932868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4480884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4944689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377755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5138703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808164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782689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299075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68725461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104805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52757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0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1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2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3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4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5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6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7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8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9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10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11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003670"/>
                  </a:ext>
                </a:extLst>
              </a:tr>
              <a:tr h="16716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0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1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1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2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2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3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1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2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2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3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3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4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20005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3BED34-208B-31E6-1891-577E06E74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324847"/>
              </p:ext>
            </p:extLst>
          </p:nvPr>
        </p:nvGraphicFramePr>
        <p:xfrm>
          <a:off x="1406849" y="5126825"/>
          <a:ext cx="8127996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412277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7932868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4480884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4944689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377755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5138703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808164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782689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299075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68725461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104805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52757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0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1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2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3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4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5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6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7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8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9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10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11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003670"/>
                  </a:ext>
                </a:extLst>
              </a:tr>
              <a:tr h="16716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0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1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2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1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2 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1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6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1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2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1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2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Lucida Sans Typewriter" panose="020B0509030504030204" pitchFamily="49" charset="0"/>
                        </a:rPr>
                        <a:t>1</a:t>
                      </a:r>
                      <a:endParaRPr lang="en-US" dirty="0">
                        <a:latin typeface="Lucida Sans Typewriter" panose="020B05090305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200057"/>
                  </a:ext>
                </a:extLst>
              </a:tr>
            </a:tbl>
          </a:graphicData>
        </a:graphic>
      </p:graphicFrame>
      <p:sp>
        <p:nvSpPr>
          <p:cNvPr id="23" name="Arrow: Curved Up 22">
            <a:extLst>
              <a:ext uri="{FF2B5EF4-FFF2-40B4-BE49-F238E27FC236}">
                <a16:creationId xmlns:a16="http://schemas.microsoft.com/office/drawing/2014/main" id="{1CDB0765-7D7C-1DB1-DB87-66F45E657819}"/>
              </a:ext>
            </a:extLst>
          </p:cNvPr>
          <p:cNvSpPr/>
          <p:nvPr/>
        </p:nvSpPr>
        <p:spPr>
          <a:xfrm flipH="1">
            <a:off x="8574833" y="5863425"/>
            <a:ext cx="662472" cy="16804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Arrow: Curved Up 23">
            <a:extLst>
              <a:ext uri="{FF2B5EF4-FFF2-40B4-BE49-F238E27FC236}">
                <a16:creationId xmlns:a16="http://schemas.microsoft.com/office/drawing/2014/main" id="{CCE1211F-3A20-DD84-36A0-49F435330E1F}"/>
              </a:ext>
            </a:extLst>
          </p:cNvPr>
          <p:cNvSpPr/>
          <p:nvPr/>
        </p:nvSpPr>
        <p:spPr>
          <a:xfrm flipH="1">
            <a:off x="7169020" y="5863425"/>
            <a:ext cx="1275183" cy="16804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Arrow: Curved Up 24">
            <a:extLst>
              <a:ext uri="{FF2B5EF4-FFF2-40B4-BE49-F238E27FC236}">
                <a16:creationId xmlns:a16="http://schemas.microsoft.com/office/drawing/2014/main" id="{FD363E5B-8103-715C-8239-BDC6D9D6D0B3}"/>
              </a:ext>
            </a:extLst>
          </p:cNvPr>
          <p:cNvSpPr/>
          <p:nvPr/>
        </p:nvSpPr>
        <p:spPr>
          <a:xfrm flipH="1">
            <a:off x="5763207" y="5863425"/>
            <a:ext cx="1275183" cy="16804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Arrow: Curved Up 25">
            <a:extLst>
              <a:ext uri="{FF2B5EF4-FFF2-40B4-BE49-F238E27FC236}">
                <a16:creationId xmlns:a16="http://schemas.microsoft.com/office/drawing/2014/main" id="{C4142FB0-A2D1-A0BA-2101-AB89D18F39A9}"/>
              </a:ext>
            </a:extLst>
          </p:cNvPr>
          <p:cNvSpPr/>
          <p:nvPr/>
        </p:nvSpPr>
        <p:spPr>
          <a:xfrm flipH="1">
            <a:off x="1632856" y="5852144"/>
            <a:ext cx="3996609" cy="17933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0811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EF8B3-3D3C-4EAB-1FEB-EF2788621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795" y="2095954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Lucida Sans Typewriter" panose="020B0509030504030204" pitchFamily="49" charset="0"/>
              </a:rPr>
              <a:t>Rod cutting problem</a:t>
            </a:r>
            <a:endParaRPr lang="en-US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8694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C82BB-2EE9-1E24-42B0-1B1DEEB27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dirty="0">
                <a:latin typeface="Lucida Sans Typewriter" panose="020B0509030504030204" pitchFamily="49" charset="0"/>
              </a:rPr>
              <a:t>Problem definition</a:t>
            </a:r>
            <a:endParaRPr lang="en-US" sz="4800" dirty="0">
              <a:latin typeface="Lucida Sans Typewriter" panose="020B0509030504030204" pitchFamily="49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A56CF97-8D29-2FA9-B229-9EEE3B420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971" y="1547017"/>
            <a:ext cx="9912156" cy="2746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Sans Typewriter" panose="020B05090305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Given a rod of length n inches and a table of prices pi for </a:t>
            </a:r>
            <a:r>
              <a:rPr kumimoji="0" lang="en-GB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Sans Typewriter" panose="020B05090305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Sans Typewriter" panose="020B05090305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1, 2, …, n, determine the maximum revenue obtainable by cutting up the rod and selling the pieces. Note that if the price </a:t>
            </a:r>
            <a:r>
              <a:rPr kumimoji="0" lang="en-GB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Sans Typewriter" panose="020B05090305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kumimoji="0" lang="en-GB" altLang="en-US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Lucida Sans Typewriter" panose="020B05090305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Sans Typewriter" panose="020B05090305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for a rod of length n is large enough, an optimal solution may require no cutting at 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Typewriter" panose="020B05090305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Typewriter" panose="020B05090305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Sans Typewriter" panose="020B05090305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 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Typewriter" panose="020B05090305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Sans Typewriter" panose="020B05090305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Sans Typewriter" panose="020B05090305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Your task is to solve the rod cutting problem using dynamic programming. Print the maximum revenue and length of each piece. 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Typewriter" panose="020B0509030504030204" pitchFamily="49" charset="0"/>
            </a:endParaRPr>
          </a:p>
        </p:txBody>
      </p: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3AA6854B-833F-6BC4-1F82-CB8FD95C2C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003740"/>
              </p:ext>
            </p:extLst>
          </p:nvPr>
        </p:nvGraphicFramePr>
        <p:xfrm>
          <a:off x="2276669" y="2801943"/>
          <a:ext cx="5019212" cy="7343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8088">
                  <a:extLst>
                    <a:ext uri="{9D8B030D-6E8A-4147-A177-3AD203B41FA5}">
                      <a16:colId xmlns:a16="http://schemas.microsoft.com/office/drawing/2014/main" val="3025703384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1789193268"/>
                    </a:ext>
                  </a:extLst>
                </a:gridCol>
                <a:gridCol w="789348">
                  <a:extLst>
                    <a:ext uri="{9D8B030D-6E8A-4147-A177-3AD203B41FA5}">
                      <a16:colId xmlns:a16="http://schemas.microsoft.com/office/drawing/2014/main" val="48579426"/>
                    </a:ext>
                  </a:extLst>
                </a:gridCol>
                <a:gridCol w="647790">
                  <a:extLst>
                    <a:ext uri="{9D8B030D-6E8A-4147-A177-3AD203B41FA5}">
                      <a16:colId xmlns:a16="http://schemas.microsoft.com/office/drawing/2014/main" val="3827536337"/>
                    </a:ext>
                  </a:extLst>
                </a:gridCol>
                <a:gridCol w="647142">
                  <a:extLst>
                    <a:ext uri="{9D8B030D-6E8A-4147-A177-3AD203B41FA5}">
                      <a16:colId xmlns:a16="http://schemas.microsoft.com/office/drawing/2014/main" val="1340695189"/>
                    </a:ext>
                  </a:extLst>
                </a:gridCol>
                <a:gridCol w="647142">
                  <a:extLst>
                    <a:ext uri="{9D8B030D-6E8A-4147-A177-3AD203B41FA5}">
                      <a16:colId xmlns:a16="http://schemas.microsoft.com/office/drawing/2014/main" val="111789986"/>
                    </a:ext>
                  </a:extLst>
                </a:gridCol>
                <a:gridCol w="647142">
                  <a:extLst>
                    <a:ext uri="{9D8B030D-6E8A-4147-A177-3AD203B41FA5}">
                      <a16:colId xmlns:a16="http://schemas.microsoft.com/office/drawing/2014/main" val="2607442853"/>
                    </a:ext>
                  </a:extLst>
                </a:gridCol>
              </a:tblGrid>
              <a:tr h="36717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  <a:latin typeface="Lucida Sans Typewriter" panose="020B0509030504030204" pitchFamily="49" charset="0"/>
                        </a:rPr>
                        <a:t>Length  i</a:t>
                      </a:r>
                      <a:endParaRPr lang="en-US" sz="1600" kern="100">
                        <a:effectLst/>
                        <a:latin typeface="Lucida Sans Typewriter" panose="020B05090305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  <a:latin typeface="Lucida Sans Typewriter" panose="020B0509030504030204" pitchFamily="49" charset="0"/>
                        </a:rPr>
                        <a:t> </a:t>
                      </a:r>
                      <a:endParaRPr lang="en-US" sz="1600" kern="100">
                        <a:effectLst/>
                        <a:latin typeface="Lucida Sans Typewriter" panose="020B05090305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  <a:latin typeface="Lucida Sans Typewriter" panose="020B0509030504030204" pitchFamily="49" charset="0"/>
                        </a:rPr>
                        <a:t>1</a:t>
                      </a:r>
                      <a:endParaRPr lang="en-US" sz="1600" kern="100">
                        <a:effectLst/>
                        <a:latin typeface="Lucida Sans Typewriter" panose="020B05090305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  <a:latin typeface="Lucida Sans Typewriter" panose="020B0509030504030204" pitchFamily="49" charset="0"/>
                        </a:rPr>
                        <a:t>2</a:t>
                      </a:r>
                      <a:endParaRPr lang="en-US" sz="1600" kern="100">
                        <a:effectLst/>
                        <a:latin typeface="Lucida Sans Typewriter" panose="020B05090305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  <a:latin typeface="Lucida Sans Typewriter" panose="020B0509030504030204" pitchFamily="49" charset="0"/>
                        </a:rPr>
                        <a:t>3</a:t>
                      </a:r>
                      <a:endParaRPr lang="en-US" sz="1600" kern="100">
                        <a:effectLst/>
                        <a:latin typeface="Lucida Sans Typewriter" panose="020B05090305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  <a:latin typeface="Lucida Sans Typewriter" panose="020B0509030504030204" pitchFamily="49" charset="0"/>
                        </a:rPr>
                        <a:t>6</a:t>
                      </a:r>
                      <a:endParaRPr lang="en-US" sz="1600" kern="100">
                        <a:effectLst/>
                        <a:latin typeface="Lucida Sans Typewriter" panose="020B05090305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 dirty="0">
                          <a:effectLst/>
                          <a:latin typeface="Lucida Sans Typewriter" panose="020B05090305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600" kern="100" dirty="0">
                        <a:effectLst/>
                        <a:latin typeface="Lucida Sans Typewriter" panose="020B05090305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9337996"/>
                  </a:ext>
                </a:extLst>
              </a:tr>
              <a:tr h="36717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  <a:latin typeface="Lucida Sans Typewriter" panose="020B0509030504030204" pitchFamily="49" charset="0"/>
                        </a:rPr>
                        <a:t>Price p</a:t>
                      </a:r>
                      <a:r>
                        <a:rPr lang="en-GB" sz="1800" kern="100" baseline="-25000">
                          <a:effectLst/>
                          <a:latin typeface="Lucida Sans Typewriter" panose="020B0509030504030204" pitchFamily="49" charset="0"/>
                        </a:rPr>
                        <a:t>i</a:t>
                      </a:r>
                      <a:endParaRPr lang="en-US" sz="1600" kern="100">
                        <a:effectLst/>
                        <a:latin typeface="Lucida Sans Typewriter" panose="020B05090305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  <a:latin typeface="Lucida Sans Typewriter" panose="020B0509030504030204" pitchFamily="49" charset="0"/>
                        </a:rPr>
                        <a:t> </a:t>
                      </a:r>
                      <a:endParaRPr lang="en-US" sz="1600" kern="100">
                        <a:effectLst/>
                        <a:latin typeface="Lucida Sans Typewriter" panose="020B05090305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 dirty="0">
                          <a:effectLst/>
                          <a:latin typeface="Lucida Sans Typewriter" panose="020B05090305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kern="100" dirty="0">
                        <a:effectLst/>
                        <a:latin typeface="Lucida Sans Typewriter" panose="020B05090305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 dirty="0">
                          <a:effectLst/>
                          <a:latin typeface="Lucida Sans Typewriter" panose="020B05090305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600" kern="100" dirty="0">
                        <a:effectLst/>
                        <a:latin typeface="Lucida Sans Typewriter" panose="020B05090305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  <a:latin typeface="Lucida Sans Typewriter" panose="020B05090305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GB" sz="1800" kern="100" dirty="0">
                          <a:effectLst/>
                          <a:latin typeface="Lucida Sans Typewriter" panose="020B05090305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kern="100" dirty="0">
                        <a:effectLst/>
                        <a:latin typeface="Lucida Sans Typewriter" panose="020B05090305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 dirty="0">
                          <a:effectLst/>
                          <a:latin typeface="Lucida Sans Typewriter" panose="020B0509030504030204" pitchFamily="49" charset="0"/>
                        </a:rPr>
                        <a:t>13</a:t>
                      </a:r>
                      <a:endParaRPr lang="en-US" sz="1600" kern="100" dirty="0">
                        <a:effectLst/>
                        <a:latin typeface="Lucida Sans Typewriter" panose="020B05090305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 dirty="0">
                          <a:effectLst/>
                          <a:latin typeface="Lucida Sans Typewriter" panose="020B05090305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US" sz="1600" kern="100" dirty="0">
                        <a:effectLst/>
                        <a:latin typeface="Lucida Sans Typewriter" panose="020B05090305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4270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4254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2997</Words>
  <Application>Microsoft Office PowerPoint</Application>
  <PresentationFormat>Widescreen</PresentationFormat>
  <Paragraphs>1016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Lucida Sans Typewriter</vt:lpstr>
      <vt:lpstr>Wingdings</vt:lpstr>
      <vt:lpstr>Office Theme</vt:lpstr>
      <vt:lpstr>Dynamic Programming</vt:lpstr>
      <vt:lpstr>0-1 knapsack</vt:lpstr>
      <vt:lpstr>Problem definition</vt:lpstr>
      <vt:lpstr>Problem Definition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Backtracking</vt:lpstr>
      <vt:lpstr>Backtracking</vt:lpstr>
      <vt:lpstr>Backtracking</vt:lpstr>
      <vt:lpstr>Backtracking</vt:lpstr>
      <vt:lpstr>Backtracking</vt:lpstr>
      <vt:lpstr>Backtracking</vt:lpstr>
      <vt:lpstr>0-1 knapsack Algorithm(DP)</vt:lpstr>
      <vt:lpstr>DP Coin Change</vt:lpstr>
      <vt:lpstr>Problem definition</vt:lpstr>
      <vt:lpstr>Coin change problem</vt:lpstr>
      <vt:lpstr>Coin change problem</vt:lpstr>
      <vt:lpstr>Coin change problem: Recursive algorithm</vt:lpstr>
      <vt:lpstr>Coin change problem: DP</vt:lpstr>
      <vt:lpstr>Backtracking</vt:lpstr>
      <vt:lpstr>Rod cutting problem</vt:lpstr>
      <vt:lpstr>Problem definition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1705040 - Umama Rahman</dc:creator>
  <cp:lastModifiedBy>1705040 - Umama Rahman</cp:lastModifiedBy>
  <cp:revision>27</cp:revision>
  <dcterms:created xsi:type="dcterms:W3CDTF">2024-08-30T04:26:42Z</dcterms:created>
  <dcterms:modified xsi:type="dcterms:W3CDTF">2024-08-30T07:09:16Z</dcterms:modified>
</cp:coreProperties>
</file>